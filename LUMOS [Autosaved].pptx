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7" r:id="rId2"/>
    <p:sldId id="256" r:id="rId3"/>
    <p:sldId id="257" r:id="rId4"/>
    <p:sldId id="258" r:id="rId5"/>
    <p:sldId id="259" r:id="rId6"/>
    <p:sldId id="260" r:id="rId7"/>
    <p:sldId id="261" r:id="rId8"/>
    <p:sldId id="262" r:id="rId9"/>
    <p:sldId id="263" r:id="rId10"/>
    <p:sldId id="264" r:id="rId11"/>
    <p:sldId id="265" r:id="rId12"/>
    <p:sldId id="268" r:id="rId13"/>
    <p:sldId id="266" r:id="rId14"/>
  </p:sldIdLst>
  <p:sldSz cx="12192000" cy="6858000"/>
  <p:notesSz cx="6858000" cy="12192000"/>
  <p:embeddedFontLst>
    <p:embeddedFont>
      <p:font typeface="Calibri" panose="020F0502020204030204" pitchFamily="34" charset="0"/>
      <p:regular r:id="rId16"/>
      <p:bold r:id="rId17"/>
      <p:italic r:id="rId18"/>
      <p:boldItalic r:id="rId19"/>
    </p:embeddedFont>
    <p:embeddedFont>
      <p:font typeface="Open Sans" panose="020B0604020202020204" charset="0"/>
      <p:regular r:id="rId20"/>
      <p:bold r:id="rId21"/>
      <p:italic r:id="rId22"/>
      <p:boldItalic r:id="rId23"/>
    </p:embeddedFont>
    <p:embeddedFont>
      <p:font typeface="Open Sans Bold" panose="020B0604020202020204" charset="0"/>
      <p:regular r:id="rId24"/>
    </p:embeddedFont>
    <p:embeddedFont>
      <p:font typeface="Unbounded Bold" panose="020B0604020202020204"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10"/>
  </p:normalViewPr>
  <p:slideViewPr>
    <p:cSldViewPr snapToGrid="0" snapToObjects="1">
      <p:cViewPr varScale="1">
        <p:scale>
          <a:sx n="85" d="100"/>
          <a:sy n="85" d="100"/>
        </p:scale>
        <p:origin x="45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9700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6F5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mailto:chirag.vijendra944@gmail.com" TargetMode="External"/><Relationship Id="rId2" Type="http://schemas.openxmlformats.org/officeDocument/2006/relationships/hyperlink" Target="mailto:maulikpatolia007@gmail.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05" y="-8709"/>
            <a:ext cx="12191695" cy="6858000"/>
          </a:xfrm>
          <a:prstGeom prst="rect">
            <a:avLst/>
          </a:prstGeom>
          <a:solidFill>
            <a:srgbClr val="D6F5EE"/>
          </a:solidFill>
          <a:ln/>
        </p:spPr>
      </p:sp>
      <p:sp>
        <p:nvSpPr>
          <p:cNvPr id="5" name="TextBox 4"/>
          <p:cNvSpPr txBox="1"/>
          <p:nvPr/>
        </p:nvSpPr>
        <p:spPr>
          <a:xfrm>
            <a:off x="1236617" y="60960"/>
            <a:ext cx="9640540" cy="3626012"/>
          </a:xfrm>
          <a:prstGeom prst="rect">
            <a:avLst/>
          </a:prstGeom>
          <a:noFill/>
        </p:spPr>
        <p:txBody>
          <a:bodyPr wrap="square" rtlCol="0">
            <a:spAutoFit/>
          </a:bodyPr>
          <a:lstStyle/>
          <a:p>
            <a:r>
              <a:rPr lang="en-US" sz="10800" b="1" dirty="0">
                <a:solidFill>
                  <a:schemeClr val="accent1">
                    <a:lumMod val="50000"/>
                  </a:schemeClr>
                </a:solidFill>
                <a:latin typeface="Unbounded Bold" panose="020B0604020202020204" charset="0"/>
              </a:rPr>
              <a:t>Team Nox </a:t>
            </a:r>
            <a:r>
              <a:rPr lang="en-US" sz="11500" b="1" dirty="0">
                <a:solidFill>
                  <a:schemeClr val="accent1">
                    <a:lumMod val="50000"/>
                  </a:schemeClr>
                </a:solidFill>
                <a:latin typeface="Unbounded Bold" panose="020B0604020202020204" charset="0"/>
              </a:rPr>
              <a:t>Presents: </a:t>
            </a:r>
            <a:endParaRPr lang="en-IN" sz="1400" b="1" dirty="0">
              <a:solidFill>
                <a:schemeClr val="accent1">
                  <a:lumMod val="50000"/>
                </a:schemeClr>
              </a:solidFill>
              <a:latin typeface="Unbounded Bold" panose="020B0604020202020204" charset="0"/>
            </a:endParaRPr>
          </a:p>
        </p:txBody>
      </p:sp>
      <p:sp>
        <p:nvSpPr>
          <p:cNvPr id="6" name="Right Arrow 5"/>
          <p:cNvSpPr/>
          <p:nvPr/>
        </p:nvSpPr>
        <p:spPr>
          <a:xfrm>
            <a:off x="3535680" y="3556344"/>
            <a:ext cx="4040777" cy="31612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54726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6F5EE"/>
          </a:solidFill>
          <a:ln/>
        </p:spPr>
      </p:sp>
      <p:sp>
        <p:nvSpPr>
          <p:cNvPr id="4" name="Text 1"/>
          <p:cNvSpPr/>
          <p:nvPr/>
        </p:nvSpPr>
        <p:spPr>
          <a:xfrm>
            <a:off x="661475" y="469698"/>
            <a:ext cx="6296860" cy="1033463"/>
          </a:xfrm>
          <a:prstGeom prst="rect">
            <a:avLst/>
          </a:prstGeom>
          <a:noFill/>
          <a:ln/>
        </p:spPr>
        <p:txBody>
          <a:bodyPr wrap="square" lIns="0" tIns="0" rIns="0" bIns="0" rtlCol="0" anchor="t">
            <a:normAutofit fontScale="62500" lnSpcReduction="20000"/>
          </a:bodyPr>
          <a:lstStyle/>
          <a:p>
            <a:r>
              <a:rPr lang="en-US" sz="6000" b="1" dirty="0">
                <a:solidFill>
                  <a:srgbClr val="333F70"/>
                </a:solidFill>
                <a:latin typeface="Unbounded Bold" pitchFamily="34" charset="0"/>
                <a:ea typeface="Unbounded Bold" pitchFamily="34" charset="-122"/>
                <a:cs typeface="Unbounded Bold" pitchFamily="34" charset="-120"/>
              </a:rPr>
              <a:t>LUMOS — Humanoid Home Assistant </a:t>
            </a:r>
            <a:endParaRPr lang="en-US" sz="6000" dirty="0"/>
          </a:p>
          <a:p>
            <a:pPr lvl="1"/>
            <a:endParaRPr lang="en-US" sz="6000" dirty="0"/>
          </a:p>
          <a:p>
            <a:pPr marL="0" indent="0" algn="l">
              <a:lnSpc>
                <a:spcPct val="104000"/>
              </a:lnSpc>
              <a:buNone/>
            </a:pPr>
            <a:endParaRPr lang="en-US" sz="3250" dirty="0"/>
          </a:p>
        </p:txBody>
      </p:sp>
      <p:sp>
        <p:nvSpPr>
          <p:cNvPr id="5" name="Text 2"/>
          <p:cNvSpPr/>
          <p:nvPr/>
        </p:nvSpPr>
        <p:spPr>
          <a:xfrm>
            <a:off x="661475" y="1903710"/>
            <a:ext cx="6296860" cy="2852737"/>
          </a:xfrm>
          <a:prstGeom prst="rect">
            <a:avLst/>
          </a:prstGeom>
          <a:noFill/>
          <a:ln/>
        </p:spPr>
        <p:txBody>
          <a:bodyPr wrap="square" lIns="0" tIns="0" rIns="0" bIns="0" rtlCol="0" anchor="t">
            <a:normAutofit/>
          </a:bodyPr>
          <a:lstStyle/>
          <a:p>
            <a:pPr marL="0" indent="0" algn="l">
              <a:lnSpc>
                <a:spcPct val="104000"/>
              </a:lnSpc>
              <a:buNone/>
            </a:pPr>
            <a:r>
              <a:rPr lang="en-US" sz="4450" b="1" dirty="0">
                <a:solidFill>
                  <a:srgbClr val="333F70"/>
                </a:solidFill>
                <a:latin typeface="Unbounded Bold" pitchFamily="34" charset="0"/>
                <a:ea typeface="Unbounded Bold" pitchFamily="34" charset="-122"/>
                <a:cs typeface="Unbounded Bold" pitchFamily="34" charset="-120"/>
              </a:rPr>
              <a:t>A voice-first AI assistant that doesn't just answer — it acts.</a:t>
            </a:r>
            <a:endParaRPr lang="en-US" sz="4450" dirty="0"/>
          </a:p>
        </p:txBody>
      </p:sp>
      <p:sp>
        <p:nvSpPr>
          <p:cNvPr id="6" name="Text 3"/>
          <p:cNvSpPr/>
          <p:nvPr/>
        </p:nvSpPr>
        <p:spPr>
          <a:xfrm>
            <a:off x="661475" y="5004495"/>
            <a:ext cx="6296860" cy="793849"/>
          </a:xfrm>
          <a:prstGeom prst="rect">
            <a:avLst/>
          </a:prstGeom>
          <a:noFill/>
          <a:ln/>
        </p:spPr>
        <p:txBody>
          <a:bodyPr wrap="square" lIns="0" tIns="0" rIns="0" bIns="0" rtlCol="0" anchor="t">
            <a:noAutofit/>
          </a:bodyPr>
          <a:lstStyle/>
          <a:p>
            <a:pPr marL="0" indent="0" algn="l">
              <a:lnSpc>
                <a:spcPct val="133000"/>
              </a:lnSpc>
              <a:buNone/>
            </a:pPr>
            <a:r>
              <a:rPr lang="en-US" b="1" i="1" dirty="0">
                <a:solidFill>
                  <a:srgbClr val="333F70"/>
                </a:solidFill>
                <a:latin typeface="Open Sans" pitchFamily="34" charset="0"/>
                <a:ea typeface="Open Sans" pitchFamily="34" charset="-122"/>
                <a:cs typeface="Open Sans" pitchFamily="34" charset="-120"/>
              </a:rPr>
              <a:t>Built on a Raspberry Pi Zero W with microphone, Bluetooth speaker, AI/LLM backends, and an optional phone/browser interface. LUMOS transforms the smart home assistant from a command executor into a true personal AI agent.</a:t>
            </a:r>
            <a:endParaRPr lang="en-US" b="1" i="1" dirty="0"/>
          </a:p>
        </p:txBody>
      </p:sp>
      <p:sp>
        <p:nvSpPr>
          <p:cNvPr id="14" name="Text 11"/>
          <p:cNvSpPr/>
          <p:nvPr/>
        </p:nvSpPr>
        <p:spPr>
          <a:xfrm>
            <a:off x="4665645" y="6033988"/>
            <a:ext cx="1962002" cy="152202"/>
          </a:xfrm>
          <a:prstGeom prst="rect">
            <a:avLst/>
          </a:prstGeom>
          <a:noFill/>
          <a:ln/>
        </p:spPr>
        <p:txBody>
          <a:bodyPr wrap="none" lIns="0" tIns="0" rIns="0" bIns="0" rtlCol="0" anchor="t"/>
          <a:lstStyle/>
          <a:p>
            <a:pPr marL="0" indent="0" algn="l">
              <a:lnSpc>
                <a:spcPct val="96000"/>
              </a:lnSpc>
              <a:buNone/>
            </a:pPr>
            <a:endParaRPr lang="en-US" sz="1000" dirty="0"/>
          </a:p>
        </p:txBody>
      </p:sp>
      <p:sp>
        <p:nvSpPr>
          <p:cNvPr id="3" name="TextBox 2">
            <a:extLst>
              <a:ext uri="{FF2B5EF4-FFF2-40B4-BE49-F238E27FC236}">
                <a16:creationId xmlns:a16="http://schemas.microsoft.com/office/drawing/2014/main" id="{A1B68AB7-E7A5-46F1-ADB0-7B3184D7E966}"/>
              </a:ext>
            </a:extLst>
          </p:cNvPr>
          <p:cNvSpPr txBox="1"/>
          <p:nvPr/>
        </p:nvSpPr>
        <p:spPr>
          <a:xfrm>
            <a:off x="8014447" y="887506"/>
            <a:ext cx="1918447" cy="369332"/>
          </a:xfrm>
          <a:prstGeom prst="rect">
            <a:avLst/>
          </a:prstGeom>
          <a:noFill/>
        </p:spPr>
        <p:txBody>
          <a:bodyPr wrap="square" rtlCol="0">
            <a:spAutoFit/>
          </a:bodyPr>
          <a:lstStyle/>
          <a:p>
            <a:r>
              <a:rPr lang="en-IN" dirty="0"/>
              <a:t>Robot picture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7" name="Shape 4">
            <a:extLst>
              <a:ext uri="{FF2B5EF4-FFF2-40B4-BE49-F238E27FC236}">
                <a16:creationId xmlns:a16="http://schemas.microsoft.com/office/drawing/2014/main" id="{CB733C3F-6961-219C-9FF2-9EEEA03789F7}"/>
              </a:ext>
            </a:extLst>
          </p:cNvPr>
          <p:cNvSpPr/>
          <p:nvPr/>
        </p:nvSpPr>
        <p:spPr>
          <a:xfrm>
            <a:off x="115410" y="5693260"/>
            <a:ext cx="11993731" cy="1108488"/>
          </a:xfrm>
          <a:custGeom>
            <a:avLst/>
            <a:gdLst/>
            <a:ahLst/>
            <a:cxnLst/>
            <a:rect l="l" t="t" r="r" b="b"/>
            <a:pathLst>
              <a:path w="6284160" h="1234083">
                <a:moveTo>
                  <a:pt x="55173" y="0"/>
                </a:moveTo>
                <a:lnTo>
                  <a:pt x="6228987" y="0"/>
                </a:lnTo>
                <a:arcTo wR="55173" hR="55175" stAng="16200000" swAng="5400000"/>
                <a:lnTo>
                  <a:pt x="6284160" y="1234083"/>
                </a:lnTo>
                <a:lnTo>
                  <a:pt x="0" y="1234083"/>
                </a:lnTo>
                <a:lnTo>
                  <a:pt x="0" y="55175"/>
                </a:lnTo>
                <a:arcTo wR="55173" hR="55175" stAng="10800000" swAng="5400000"/>
                <a:close/>
              </a:path>
            </a:pathLst>
          </a:custGeom>
          <a:solidFill>
            <a:srgbClr val="D6F5EE"/>
          </a:solidFill>
          <a:ln/>
        </p:spPr>
      </p:sp>
      <p:sp>
        <p:nvSpPr>
          <p:cNvPr id="4" name="Text 1"/>
          <p:cNvSpPr/>
          <p:nvPr/>
        </p:nvSpPr>
        <p:spPr>
          <a:xfrm>
            <a:off x="319596" y="331780"/>
            <a:ext cx="11258930" cy="1477863"/>
          </a:xfrm>
          <a:prstGeom prst="rect">
            <a:avLst/>
          </a:prstGeom>
          <a:noFill/>
          <a:ln/>
        </p:spPr>
        <p:txBody>
          <a:bodyPr wrap="square" lIns="0" tIns="0" rIns="0" bIns="0" rtlCol="0" anchor="t">
            <a:normAutofit/>
          </a:bodyPr>
          <a:lstStyle/>
          <a:p>
            <a:pPr marL="0" indent="0" algn="ctr">
              <a:lnSpc>
                <a:spcPct val="104000"/>
              </a:lnSpc>
              <a:buNone/>
            </a:pPr>
            <a:r>
              <a:rPr lang="en-US" sz="3100" b="1" dirty="0">
                <a:solidFill>
                  <a:srgbClr val="333F70"/>
                </a:solidFill>
                <a:latin typeface="Unbounded Bold" pitchFamily="34" charset="0"/>
              </a:rPr>
              <a:t>Smart Assistants Are Still Too Limited</a:t>
            </a:r>
            <a:endParaRPr lang="en-US" sz="3100" dirty="0"/>
          </a:p>
        </p:txBody>
      </p:sp>
      <p:sp>
        <p:nvSpPr>
          <p:cNvPr id="5" name="Text 2"/>
          <p:cNvSpPr/>
          <p:nvPr/>
        </p:nvSpPr>
        <p:spPr>
          <a:xfrm>
            <a:off x="630314" y="1189608"/>
            <a:ext cx="10954561" cy="1297634"/>
          </a:xfrm>
          <a:prstGeom prst="rect">
            <a:avLst/>
          </a:prstGeom>
          <a:noFill/>
          <a:ln/>
        </p:spPr>
        <p:txBody>
          <a:bodyPr wrap="square" lIns="0" tIns="0" rIns="0" bIns="0" rtlCol="0" anchor="t">
            <a:noAutofit/>
          </a:bodyPr>
          <a:lstStyle/>
          <a:p>
            <a:pPr marL="0" indent="0">
              <a:lnSpc>
                <a:spcPct val="130000"/>
              </a:lnSpc>
              <a:buNone/>
            </a:pPr>
            <a:r>
              <a:rPr lang="en-US" sz="2000" b="1" i="1" dirty="0">
                <a:solidFill>
                  <a:srgbClr val="333F70"/>
                </a:solidFill>
                <a:ea typeface="Open Sans" pitchFamily="34" charset="-122"/>
                <a:cs typeface="Open Sans" pitchFamily="34" charset="-120"/>
              </a:rPr>
              <a:t>Traditional smart assistants made voice interaction mainstream — but the experience is still locked to predefined capabilities, skills, and a manufacturer's ecosystem. You can ask "Set a timer" or "Play music," but when the request gets complicated, users reach for their phone.</a:t>
            </a:r>
            <a:endParaRPr lang="en-US" sz="2000" b="1" i="1" dirty="0"/>
          </a:p>
        </p:txBody>
      </p:sp>
      <p:sp>
        <p:nvSpPr>
          <p:cNvPr id="7" name="Shape 4"/>
          <p:cNvSpPr/>
          <p:nvPr/>
        </p:nvSpPr>
        <p:spPr>
          <a:xfrm>
            <a:off x="115410" y="2556341"/>
            <a:ext cx="11993731" cy="1305392"/>
          </a:xfrm>
          <a:custGeom>
            <a:avLst/>
            <a:gdLst/>
            <a:ahLst/>
            <a:cxnLst/>
            <a:rect l="l" t="t" r="r" b="b"/>
            <a:pathLst>
              <a:path w="6284160" h="1234083">
                <a:moveTo>
                  <a:pt x="55173" y="0"/>
                </a:moveTo>
                <a:lnTo>
                  <a:pt x="6228987" y="0"/>
                </a:lnTo>
                <a:arcTo wR="55173" hR="55175" stAng="16200000" swAng="5400000"/>
                <a:lnTo>
                  <a:pt x="6284160" y="1234083"/>
                </a:lnTo>
                <a:lnTo>
                  <a:pt x="0" y="1234083"/>
                </a:lnTo>
                <a:lnTo>
                  <a:pt x="0" y="55175"/>
                </a:lnTo>
                <a:arcTo wR="55173" hR="55175" stAng="10800000" swAng="5400000"/>
                <a:close/>
              </a:path>
            </a:pathLst>
          </a:custGeom>
          <a:solidFill>
            <a:srgbClr val="D6F5EE"/>
          </a:solidFill>
          <a:ln/>
        </p:spPr>
      </p:sp>
      <p:sp>
        <p:nvSpPr>
          <p:cNvPr id="8" name="Text 5"/>
          <p:cNvSpPr/>
          <p:nvPr/>
        </p:nvSpPr>
        <p:spPr>
          <a:xfrm>
            <a:off x="186432" y="2610415"/>
            <a:ext cx="11199648" cy="367422"/>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ea typeface="Unbounded Bold" pitchFamily="34" charset="-122"/>
                <a:cs typeface="Unbounded Bold" pitchFamily="34" charset="-120"/>
              </a:rPr>
              <a:t>Problem:</a:t>
            </a:r>
            <a:endParaRPr lang="en-US" sz="1550" dirty="0"/>
          </a:p>
        </p:txBody>
      </p:sp>
      <p:sp>
        <p:nvSpPr>
          <p:cNvPr id="9" name="Text 6"/>
          <p:cNvSpPr/>
          <p:nvPr/>
        </p:nvSpPr>
        <p:spPr>
          <a:xfrm>
            <a:off x="186432" y="3005151"/>
            <a:ext cx="11754875" cy="582613"/>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i="1" dirty="0">
                <a:solidFill>
                  <a:schemeClr val="accent1">
                    <a:lumMod val="75000"/>
                  </a:schemeClr>
                </a:solidFill>
              </a:rPr>
              <a:t>Restricted to supported skills and integrations </a:t>
            </a:r>
          </a:p>
          <a:p>
            <a:pPr marL="285750" lvl="0" indent="-285750">
              <a:buFont typeface="Arial" panose="020B0604020202020204" pitchFamily="34" charset="0"/>
              <a:buChar char="•"/>
            </a:pPr>
            <a:r>
              <a:rPr lang="en-IN" b="1" i="1" dirty="0">
                <a:solidFill>
                  <a:schemeClr val="accent1">
                    <a:lumMod val="75000"/>
                  </a:schemeClr>
                </a:solidFill>
              </a:rPr>
              <a:t>Many tasks require specific commands or services</a:t>
            </a:r>
          </a:p>
          <a:p>
            <a:pPr marL="285750" indent="-285750">
              <a:buFont typeface="Arial" panose="020B0604020202020204" pitchFamily="34" charset="0"/>
              <a:buChar char="•"/>
            </a:pPr>
            <a:r>
              <a:rPr lang="en-IN" b="1" i="1" dirty="0">
                <a:solidFill>
                  <a:schemeClr val="accent1">
                    <a:lumMod val="75000"/>
                  </a:schemeClr>
                </a:solidFill>
              </a:rPr>
              <a:t>Users must often phrase requests in ways the assistant understands</a:t>
            </a:r>
            <a:r>
              <a:rPr lang="en-IN" sz="1400" b="1" dirty="0">
                <a:solidFill>
                  <a:schemeClr val="accent1">
                    <a:lumMod val="75000"/>
                  </a:schemeClr>
                </a:solidFill>
              </a:rPr>
              <a:t> </a:t>
            </a:r>
          </a:p>
          <a:p>
            <a:pPr marL="285750" lvl="0" indent="-285750">
              <a:buFont typeface="Arial" panose="020B0604020202020204" pitchFamily="34" charset="0"/>
              <a:buChar char="•"/>
            </a:pPr>
            <a:endParaRPr lang="en-IN" sz="1400" b="1" dirty="0">
              <a:solidFill>
                <a:schemeClr val="accent1">
                  <a:lumMod val="75000"/>
                </a:schemeClr>
              </a:solidFill>
            </a:endParaRPr>
          </a:p>
        </p:txBody>
      </p:sp>
      <p:sp>
        <p:nvSpPr>
          <p:cNvPr id="18" name="Shape 4">
            <a:extLst>
              <a:ext uri="{FF2B5EF4-FFF2-40B4-BE49-F238E27FC236}">
                <a16:creationId xmlns:a16="http://schemas.microsoft.com/office/drawing/2014/main" id="{54589377-B199-68BA-2382-86C16BF87893}"/>
              </a:ext>
            </a:extLst>
          </p:cNvPr>
          <p:cNvSpPr/>
          <p:nvPr/>
        </p:nvSpPr>
        <p:spPr>
          <a:xfrm>
            <a:off x="115410" y="3953145"/>
            <a:ext cx="11993732" cy="1699077"/>
          </a:xfrm>
          <a:custGeom>
            <a:avLst/>
            <a:gdLst/>
            <a:ahLst/>
            <a:cxnLst/>
            <a:rect l="l" t="t" r="r" b="b"/>
            <a:pathLst>
              <a:path w="6284160" h="1234083">
                <a:moveTo>
                  <a:pt x="55173" y="0"/>
                </a:moveTo>
                <a:lnTo>
                  <a:pt x="6228987" y="0"/>
                </a:lnTo>
                <a:arcTo wR="55173" hR="55175" stAng="16200000" swAng="5400000"/>
                <a:lnTo>
                  <a:pt x="6284160" y="1234083"/>
                </a:lnTo>
                <a:lnTo>
                  <a:pt x="0" y="1234083"/>
                </a:lnTo>
                <a:lnTo>
                  <a:pt x="0" y="55175"/>
                </a:lnTo>
                <a:arcTo wR="55173" hR="55175" stAng="10800000" swAng="5400000"/>
                <a:close/>
              </a:path>
            </a:pathLst>
          </a:custGeom>
          <a:solidFill>
            <a:srgbClr val="D6F5EE"/>
          </a:solidFill>
          <a:ln/>
        </p:spPr>
        <p:txBody>
          <a:bodyPr/>
          <a:lstStyle/>
          <a:p>
            <a:endParaRPr lang="en-IN" dirty="0"/>
          </a:p>
        </p:txBody>
      </p:sp>
      <p:sp>
        <p:nvSpPr>
          <p:cNvPr id="17" name="TextBox 16">
            <a:extLst>
              <a:ext uri="{FF2B5EF4-FFF2-40B4-BE49-F238E27FC236}">
                <a16:creationId xmlns:a16="http://schemas.microsoft.com/office/drawing/2014/main" id="{388E4F61-C9F6-4110-A5B4-57772B23D2E6}"/>
              </a:ext>
            </a:extLst>
          </p:cNvPr>
          <p:cNvSpPr txBox="1"/>
          <p:nvPr/>
        </p:nvSpPr>
        <p:spPr>
          <a:xfrm>
            <a:off x="186434" y="4320587"/>
            <a:ext cx="11263898" cy="338554"/>
          </a:xfrm>
          <a:prstGeom prst="rect">
            <a:avLst/>
          </a:prstGeom>
          <a:noFill/>
        </p:spPr>
        <p:txBody>
          <a:bodyPr wrap="square">
            <a:spAutoFit/>
          </a:bodyPr>
          <a:lstStyle/>
          <a:p>
            <a:r>
              <a:rPr lang="en-IN" sz="1600" b="1" dirty="0">
                <a:solidFill>
                  <a:schemeClr val="accent1">
                    <a:lumMod val="75000"/>
                  </a:schemeClr>
                </a:solidFill>
              </a:rPr>
              <a:t>USER → FIXED COMMAND → FIXED CAPABILITY → RESPONSE</a:t>
            </a:r>
          </a:p>
        </p:txBody>
      </p:sp>
      <p:sp>
        <p:nvSpPr>
          <p:cNvPr id="19" name="Text 5">
            <a:extLst>
              <a:ext uri="{FF2B5EF4-FFF2-40B4-BE49-F238E27FC236}">
                <a16:creationId xmlns:a16="http://schemas.microsoft.com/office/drawing/2014/main" id="{A619B926-24CF-7D7F-F822-FBA76EC5A0F8}"/>
              </a:ext>
            </a:extLst>
          </p:cNvPr>
          <p:cNvSpPr/>
          <p:nvPr/>
        </p:nvSpPr>
        <p:spPr>
          <a:xfrm>
            <a:off x="186433" y="4076317"/>
            <a:ext cx="11199646" cy="246261"/>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rPr>
              <a:t>Traditional Assistant</a:t>
            </a:r>
            <a:endParaRPr lang="en-US" sz="1550" dirty="0"/>
          </a:p>
        </p:txBody>
      </p:sp>
      <p:sp>
        <p:nvSpPr>
          <p:cNvPr id="23" name="TextBox 22">
            <a:extLst>
              <a:ext uri="{FF2B5EF4-FFF2-40B4-BE49-F238E27FC236}">
                <a16:creationId xmlns:a16="http://schemas.microsoft.com/office/drawing/2014/main" id="{53544A67-6075-9A0B-7D1C-C5A35A1BC398}"/>
              </a:ext>
            </a:extLst>
          </p:cNvPr>
          <p:cNvSpPr txBox="1"/>
          <p:nvPr/>
        </p:nvSpPr>
        <p:spPr>
          <a:xfrm>
            <a:off x="186432" y="5079849"/>
            <a:ext cx="11276598" cy="338554"/>
          </a:xfrm>
          <a:prstGeom prst="rect">
            <a:avLst/>
          </a:prstGeom>
          <a:noFill/>
        </p:spPr>
        <p:txBody>
          <a:bodyPr wrap="square">
            <a:spAutoFit/>
          </a:bodyPr>
          <a:lstStyle/>
          <a:p>
            <a:r>
              <a:rPr lang="en-IN" sz="1600" b="1" dirty="0">
                <a:solidFill>
                  <a:schemeClr val="accent1">
                    <a:lumMod val="75000"/>
                  </a:schemeClr>
                </a:solidFill>
              </a:rPr>
              <a:t>USER → NATURAL INTENT → REASONING → TOOLS → ACTION</a:t>
            </a:r>
          </a:p>
        </p:txBody>
      </p:sp>
      <p:sp>
        <p:nvSpPr>
          <p:cNvPr id="24" name="Text 5">
            <a:extLst>
              <a:ext uri="{FF2B5EF4-FFF2-40B4-BE49-F238E27FC236}">
                <a16:creationId xmlns:a16="http://schemas.microsoft.com/office/drawing/2014/main" id="{7CC9A25E-AEEA-090D-B241-A4CEDAE95C20}"/>
              </a:ext>
            </a:extLst>
          </p:cNvPr>
          <p:cNvSpPr/>
          <p:nvPr/>
        </p:nvSpPr>
        <p:spPr>
          <a:xfrm>
            <a:off x="186433" y="4783064"/>
            <a:ext cx="11212346" cy="246261"/>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rPr>
              <a:t>Modern AI</a:t>
            </a:r>
            <a:endParaRPr lang="en-US" sz="1550" dirty="0"/>
          </a:p>
        </p:txBody>
      </p:sp>
      <p:sp>
        <p:nvSpPr>
          <p:cNvPr id="26" name="TextBox 25">
            <a:extLst>
              <a:ext uri="{FF2B5EF4-FFF2-40B4-BE49-F238E27FC236}">
                <a16:creationId xmlns:a16="http://schemas.microsoft.com/office/drawing/2014/main" id="{1C2B1888-74D1-1BEB-FEB4-298116480299}"/>
              </a:ext>
            </a:extLst>
          </p:cNvPr>
          <p:cNvSpPr txBox="1"/>
          <p:nvPr/>
        </p:nvSpPr>
        <p:spPr>
          <a:xfrm>
            <a:off x="115410" y="5797785"/>
            <a:ext cx="11334920" cy="577081"/>
          </a:xfrm>
          <a:prstGeom prst="rect">
            <a:avLst/>
          </a:prstGeom>
          <a:noFill/>
        </p:spPr>
        <p:txBody>
          <a:bodyPr wrap="square">
            <a:spAutoFit/>
          </a:bodyPr>
          <a:lstStyle/>
          <a:p>
            <a:pPr>
              <a:buNone/>
            </a:pPr>
            <a:r>
              <a:rPr lang="en-IN" sz="1550" b="1" dirty="0">
                <a:solidFill>
                  <a:srgbClr val="333F70"/>
                </a:solidFill>
                <a:latin typeface="Unbounded Bold" panose="020B0604020202020204" charset="0"/>
              </a:rPr>
              <a:t>The real opportunity</a:t>
            </a:r>
          </a:p>
          <a:p>
            <a:pPr>
              <a:buNone/>
            </a:pPr>
            <a:r>
              <a:rPr lang="en-IN" sz="1600" b="1" dirty="0">
                <a:solidFill>
                  <a:schemeClr val="accent1">
                    <a:lumMod val="75000"/>
                  </a:schemeClr>
                </a:solidFill>
              </a:rPr>
              <a:t>Today's LLMs can understand natural language, reason across a request, use tools, access information, and perform multi-step tasks.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0787" y="868759"/>
            <a:ext cx="10868745" cy="516731"/>
          </a:xfrm>
          <a:prstGeom prst="rect">
            <a:avLst/>
          </a:prstGeom>
          <a:noFill/>
          <a:ln/>
        </p:spPr>
        <p:txBody>
          <a:bodyPr wrap="none" lIns="0" tIns="0" rIns="0" bIns="0" rtlCol="0" anchor="t"/>
          <a:lstStyle/>
          <a:p>
            <a:pPr marL="0" indent="0" algn="l">
              <a:lnSpc>
                <a:spcPct val="104000"/>
              </a:lnSpc>
              <a:buNone/>
            </a:pPr>
            <a:r>
              <a:rPr lang="en-US" sz="2800" b="1" dirty="0">
                <a:solidFill>
                  <a:srgbClr val="333F70"/>
                </a:solidFill>
                <a:latin typeface="Unbounded Bold" pitchFamily="34" charset="0"/>
                <a:ea typeface="Unbounded Bold" pitchFamily="34" charset="-122"/>
                <a:cs typeface="Unbounded Bold" pitchFamily="34" charset="-120"/>
              </a:rPr>
              <a:t>               Alexa 		           			LUMOS</a:t>
            </a:r>
            <a:endParaRPr lang="en-US" sz="2800" dirty="0"/>
          </a:p>
        </p:txBody>
      </p:sp>
      <p:sp>
        <p:nvSpPr>
          <p:cNvPr id="5" name="Shape 2"/>
          <p:cNvSpPr/>
          <p:nvPr/>
        </p:nvSpPr>
        <p:spPr>
          <a:xfrm>
            <a:off x="671111" y="1570157"/>
            <a:ext cx="4946223" cy="4544996"/>
          </a:xfrm>
          <a:prstGeom prst="roundRect">
            <a:avLst>
              <a:gd name="adj" fmla="val 7502"/>
            </a:avLst>
          </a:prstGeom>
          <a:solidFill>
            <a:srgbClr val="D6F5EE"/>
          </a:solidFill>
          <a:ln/>
        </p:spPr>
      </p:sp>
      <p:sp>
        <p:nvSpPr>
          <p:cNvPr id="12" name="TextBox 11">
            <a:extLst>
              <a:ext uri="{FF2B5EF4-FFF2-40B4-BE49-F238E27FC236}">
                <a16:creationId xmlns:a16="http://schemas.microsoft.com/office/drawing/2014/main" id="{7EA2D31F-AF1F-5982-CEF2-AB46D2586082}"/>
              </a:ext>
            </a:extLst>
          </p:cNvPr>
          <p:cNvSpPr txBox="1"/>
          <p:nvPr/>
        </p:nvSpPr>
        <p:spPr>
          <a:xfrm>
            <a:off x="671111" y="1779428"/>
            <a:ext cx="2938252" cy="369332"/>
          </a:xfrm>
          <a:prstGeom prst="rect">
            <a:avLst/>
          </a:prstGeom>
          <a:noFill/>
        </p:spPr>
        <p:txBody>
          <a:bodyPr wrap="square">
            <a:spAutoFit/>
          </a:bodyPr>
          <a:lstStyle/>
          <a:p>
            <a:r>
              <a:rPr lang="en-IN" dirty="0">
                <a:solidFill>
                  <a:srgbClr val="333F70"/>
                </a:solidFill>
                <a:latin typeface="Unbounded Bold" panose="020B0604020202020204" charset="0"/>
              </a:rPr>
              <a:t>Alexa</a:t>
            </a:r>
          </a:p>
        </p:txBody>
      </p:sp>
      <p:sp>
        <p:nvSpPr>
          <p:cNvPr id="14" name="TextBox 13">
            <a:extLst>
              <a:ext uri="{FF2B5EF4-FFF2-40B4-BE49-F238E27FC236}">
                <a16:creationId xmlns:a16="http://schemas.microsoft.com/office/drawing/2014/main" id="{127E73E0-0FEE-E222-9CE8-4CAA8AD0DFEF}"/>
              </a:ext>
            </a:extLst>
          </p:cNvPr>
          <p:cNvSpPr txBox="1"/>
          <p:nvPr/>
        </p:nvSpPr>
        <p:spPr>
          <a:xfrm>
            <a:off x="825623" y="2148760"/>
            <a:ext cx="4390189" cy="3539430"/>
          </a:xfrm>
          <a:prstGeom prst="rect">
            <a:avLst/>
          </a:prstGeom>
          <a:noFill/>
        </p:spPr>
        <p:txBody>
          <a:bodyPr wrap="square">
            <a:spAutoFit/>
          </a:bodyPr>
          <a:lstStyle/>
          <a:p>
            <a:pPr marL="342900" indent="-342900">
              <a:buFont typeface="Arial" panose="020B0604020202020204" pitchFamily="34" charset="0"/>
              <a:buChar char="•"/>
            </a:pPr>
            <a:r>
              <a:rPr lang="en-IN" sz="2800" b="1" dirty="0">
                <a:solidFill>
                  <a:schemeClr val="accent1">
                    <a:lumMod val="75000"/>
                  </a:schemeClr>
                </a:solidFill>
              </a:rPr>
              <a:t>Not a true LLM-first assistant</a:t>
            </a:r>
          </a:p>
          <a:p>
            <a:pPr marL="342900" indent="-342900">
              <a:buFont typeface="Arial" panose="020B0604020202020204" pitchFamily="34" charset="0"/>
              <a:buChar char="•"/>
            </a:pPr>
            <a:r>
              <a:rPr lang="en-IN" sz="2800" b="1" dirty="0">
                <a:solidFill>
                  <a:schemeClr val="accent1">
                    <a:lumMod val="75000"/>
                  </a:schemeClr>
                </a:solidFill>
              </a:rPr>
              <a:t>Limited to Amazon’s ecosystem</a:t>
            </a:r>
          </a:p>
          <a:p>
            <a:pPr marL="342900" indent="-342900">
              <a:buFont typeface="Arial" panose="020B0604020202020204" pitchFamily="34" charset="0"/>
              <a:buChar char="•"/>
            </a:pPr>
            <a:r>
              <a:rPr lang="en-IN" sz="2800" b="1" dirty="0">
                <a:solidFill>
                  <a:schemeClr val="accent1">
                    <a:lumMod val="75000"/>
                  </a:schemeClr>
                </a:solidFill>
              </a:rPr>
              <a:t>Limited personalization</a:t>
            </a:r>
          </a:p>
          <a:p>
            <a:pPr marL="342900" indent="-342900">
              <a:buFont typeface="Arial" panose="020B0604020202020204" pitchFamily="34" charset="0"/>
              <a:buChar char="•"/>
            </a:pPr>
            <a:r>
              <a:rPr lang="en-IN" sz="2800" b="1" dirty="0">
                <a:solidFill>
                  <a:schemeClr val="accent1">
                    <a:lumMod val="75000"/>
                  </a:schemeClr>
                </a:solidFill>
              </a:rPr>
              <a:t>System prompt cannot be changed</a:t>
            </a:r>
          </a:p>
          <a:p>
            <a:pPr marL="342900" indent="-342900">
              <a:buFont typeface="Arial" panose="020B0604020202020204" pitchFamily="34" charset="0"/>
              <a:buChar char="•"/>
            </a:pPr>
            <a:r>
              <a:rPr lang="en-IN" sz="2800" b="1" dirty="0">
                <a:solidFill>
                  <a:schemeClr val="accent1">
                    <a:lumMod val="75000"/>
                  </a:schemeClr>
                </a:solidFill>
              </a:rPr>
              <a:t>Limited conversation</a:t>
            </a:r>
          </a:p>
        </p:txBody>
      </p:sp>
      <p:sp>
        <p:nvSpPr>
          <p:cNvPr id="6" name="Shape 2"/>
          <p:cNvSpPr/>
          <p:nvPr/>
        </p:nvSpPr>
        <p:spPr>
          <a:xfrm>
            <a:off x="6698657" y="1570156"/>
            <a:ext cx="4831563" cy="4544997"/>
          </a:xfrm>
          <a:prstGeom prst="roundRect">
            <a:avLst>
              <a:gd name="adj" fmla="val 7502"/>
            </a:avLst>
          </a:prstGeom>
          <a:solidFill>
            <a:srgbClr val="D6F5EE"/>
          </a:solidFill>
          <a:ln/>
        </p:spPr>
      </p:sp>
      <p:sp>
        <p:nvSpPr>
          <p:cNvPr id="3" name="TextBox 2"/>
          <p:cNvSpPr txBox="1"/>
          <p:nvPr/>
        </p:nvSpPr>
        <p:spPr>
          <a:xfrm>
            <a:off x="6942337" y="1779428"/>
            <a:ext cx="4065973" cy="369332"/>
          </a:xfrm>
          <a:prstGeom prst="rect">
            <a:avLst/>
          </a:prstGeom>
          <a:noFill/>
        </p:spPr>
        <p:txBody>
          <a:bodyPr wrap="square" rtlCol="0">
            <a:spAutoFit/>
          </a:bodyPr>
          <a:lstStyle/>
          <a:p>
            <a:r>
              <a:rPr lang="en-IN" dirty="0">
                <a:solidFill>
                  <a:srgbClr val="333F70"/>
                </a:solidFill>
                <a:latin typeface="Unbounded Bold" panose="020B0604020202020204" charset="0"/>
              </a:rPr>
              <a:t>LUMOS</a:t>
            </a:r>
            <a:endParaRPr lang="en-US" dirty="0"/>
          </a:p>
        </p:txBody>
      </p:sp>
      <p:sp>
        <p:nvSpPr>
          <p:cNvPr id="8" name="TextBox 7">
            <a:extLst>
              <a:ext uri="{FF2B5EF4-FFF2-40B4-BE49-F238E27FC236}">
                <a16:creationId xmlns:a16="http://schemas.microsoft.com/office/drawing/2014/main" id="{127E73E0-0FEE-E222-9CE8-4CAA8AD0DFEF}"/>
              </a:ext>
            </a:extLst>
          </p:cNvPr>
          <p:cNvSpPr txBox="1"/>
          <p:nvPr/>
        </p:nvSpPr>
        <p:spPr>
          <a:xfrm>
            <a:off x="6919343" y="2144836"/>
            <a:ext cx="4390189" cy="3970318"/>
          </a:xfrm>
          <a:prstGeom prst="rect">
            <a:avLst/>
          </a:prstGeom>
          <a:noFill/>
        </p:spPr>
        <p:txBody>
          <a:bodyPr wrap="square">
            <a:spAutoFit/>
          </a:bodyPr>
          <a:lstStyle/>
          <a:p>
            <a:pPr marL="342900" indent="-342900">
              <a:buFont typeface="Arial" panose="020B0604020202020204" pitchFamily="34" charset="0"/>
              <a:buChar char="•"/>
            </a:pPr>
            <a:r>
              <a:rPr lang="en-IN" sz="2800" b="1" dirty="0">
                <a:solidFill>
                  <a:schemeClr val="accent1">
                    <a:lumMod val="75000"/>
                  </a:schemeClr>
                </a:solidFill>
              </a:rPr>
              <a:t>ChatGPT API</a:t>
            </a:r>
          </a:p>
          <a:p>
            <a:pPr marL="342900" indent="-342900">
              <a:buFont typeface="Arial" panose="020B0604020202020204" pitchFamily="34" charset="0"/>
              <a:buChar char="•"/>
            </a:pPr>
            <a:r>
              <a:rPr lang="en-IN" sz="2800" b="1" dirty="0">
                <a:solidFill>
                  <a:schemeClr val="accent1">
                    <a:lumMod val="75000"/>
                  </a:schemeClr>
                </a:solidFill>
              </a:rPr>
              <a:t>User flexibility through open source</a:t>
            </a:r>
          </a:p>
          <a:p>
            <a:pPr marL="342900" indent="-342900">
              <a:buFont typeface="Arial" panose="020B0604020202020204" pitchFamily="34" charset="0"/>
              <a:buChar char="•"/>
            </a:pPr>
            <a:r>
              <a:rPr lang="en-IN" sz="2800" b="1" dirty="0">
                <a:solidFill>
                  <a:schemeClr val="accent1">
                    <a:lumMod val="75000"/>
                  </a:schemeClr>
                </a:solidFill>
              </a:rPr>
              <a:t>Multipurpose approach through tools </a:t>
            </a:r>
          </a:p>
          <a:p>
            <a:pPr marL="342900" indent="-342900">
              <a:buFont typeface="Arial" panose="020B0604020202020204" pitchFamily="34" charset="0"/>
              <a:buChar char="•"/>
            </a:pPr>
            <a:r>
              <a:rPr lang="en-IN" sz="2800" b="1" dirty="0">
                <a:solidFill>
                  <a:schemeClr val="accent1">
                    <a:lumMod val="75000"/>
                  </a:schemeClr>
                </a:solidFill>
              </a:rPr>
              <a:t>Backup of previous conversation</a:t>
            </a:r>
          </a:p>
          <a:p>
            <a:pPr marL="342900" indent="-342900">
              <a:buFont typeface="Arial" panose="020B0604020202020204" pitchFamily="34" charset="0"/>
              <a:buChar char="•"/>
            </a:pPr>
            <a:r>
              <a:rPr lang="en-IN" sz="2800" b="1" dirty="0">
                <a:solidFill>
                  <a:schemeClr val="accent1">
                    <a:lumMod val="75000"/>
                  </a:schemeClr>
                </a:solidFill>
              </a:rPr>
              <a:t>Long distance conversation through IoT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1"/>
          <p:cNvSpPr/>
          <p:nvPr/>
        </p:nvSpPr>
        <p:spPr>
          <a:xfrm>
            <a:off x="325389" y="264186"/>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Meet LUMOS</a:t>
            </a:r>
            <a:endParaRPr lang="en-US" sz="3250" dirty="0"/>
          </a:p>
        </p:txBody>
      </p:sp>
      <p:sp>
        <p:nvSpPr>
          <p:cNvPr id="5" name="Text 2"/>
          <p:cNvSpPr/>
          <p:nvPr/>
        </p:nvSpPr>
        <p:spPr>
          <a:xfrm>
            <a:off x="6043622" y="811467"/>
            <a:ext cx="5852697" cy="579001"/>
          </a:xfrm>
          <a:prstGeom prst="rect">
            <a:avLst/>
          </a:prstGeom>
          <a:noFill/>
          <a:ln/>
        </p:spPr>
        <p:txBody>
          <a:bodyPr wrap="square" lIns="0" tIns="0" rIns="0" bIns="0" rtlCol="0" anchor="t">
            <a:noAutofit/>
          </a:bodyPr>
          <a:lstStyle/>
          <a:p>
            <a:pPr marL="0" indent="0" algn="l">
              <a:lnSpc>
                <a:spcPct val="133000"/>
              </a:lnSpc>
              <a:buNone/>
            </a:pPr>
            <a:r>
              <a:rPr lang="en-US" sz="1400" i="1" dirty="0">
                <a:solidFill>
                  <a:srgbClr val="333F70"/>
                </a:solidFill>
                <a:latin typeface="Open Sans" pitchFamily="34" charset="0"/>
                <a:ea typeface="Open Sans" pitchFamily="34" charset="-122"/>
                <a:cs typeface="Open Sans" pitchFamily="34" charset="-120"/>
              </a:rPr>
              <a:t>LUMOS is a Raspberry Pi-based AI home assistant designed to listen, understand, act, and respond. One small device, one natural interface, many AI capabilities.</a:t>
            </a:r>
            <a:endParaRPr lang="en-US" sz="1400" i="1" dirty="0"/>
          </a:p>
        </p:txBody>
      </p:sp>
      <p:pic>
        <p:nvPicPr>
          <p:cNvPr id="6" name="Image 1" descr="preencoded.png"/>
          <p:cNvPicPr>
            <a:picLocks noChangeAspect="1"/>
          </p:cNvPicPr>
          <p:nvPr/>
        </p:nvPicPr>
        <p:blipFill>
          <a:blip r:embed="rId3"/>
          <a:stretch>
            <a:fillRect/>
          </a:stretch>
        </p:blipFill>
        <p:spPr>
          <a:xfrm>
            <a:off x="-444209" y="1434942"/>
            <a:ext cx="6540209" cy="3049137"/>
          </a:xfrm>
          <a:prstGeom prst="rect">
            <a:avLst/>
          </a:prstGeom>
        </p:spPr>
      </p:pic>
      <p:grpSp>
        <p:nvGrpSpPr>
          <p:cNvPr id="18" name="Group 17"/>
          <p:cNvGrpSpPr/>
          <p:nvPr/>
        </p:nvGrpSpPr>
        <p:grpSpPr>
          <a:xfrm rot="10800000" flipV="1">
            <a:off x="0" y="1806954"/>
            <a:ext cx="1535868" cy="618302"/>
            <a:chOff x="5382906" y="2483076"/>
            <a:chExt cx="2185805" cy="311398"/>
          </a:xfrm>
        </p:grpSpPr>
        <p:sp>
          <p:nvSpPr>
            <p:cNvPr id="7" name="Text 3"/>
            <p:cNvSpPr/>
            <p:nvPr/>
          </p:nvSpPr>
          <p:spPr>
            <a:xfrm>
              <a:off x="5448277" y="2483076"/>
              <a:ext cx="2120434" cy="177755"/>
            </a:xfrm>
            <a:prstGeom prst="rect">
              <a:avLst/>
            </a:prstGeom>
            <a:noFill/>
            <a:ln/>
          </p:spPr>
          <p:txBody>
            <a:bodyPr wrap="none" lIns="0" tIns="0" rIns="0" bIns="0" rtlCol="0" anchor="t"/>
            <a:lstStyle/>
            <a:p>
              <a:pPr marL="0" indent="0">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Listen Naturally</a:t>
              </a:r>
              <a:endParaRPr lang="en-US" sz="1100" dirty="0"/>
            </a:p>
          </p:txBody>
        </p:sp>
        <p:sp>
          <p:nvSpPr>
            <p:cNvPr id="8" name="Text 4"/>
            <p:cNvSpPr/>
            <p:nvPr/>
          </p:nvSpPr>
          <p:spPr>
            <a:xfrm>
              <a:off x="5382906" y="2597445"/>
              <a:ext cx="1776473" cy="197029"/>
            </a:xfrm>
            <a:prstGeom prst="rect">
              <a:avLst/>
            </a:prstGeom>
            <a:noFill/>
            <a:ln/>
          </p:spPr>
          <p:txBody>
            <a:bodyPr wrap="square" lIns="0" tIns="0" rIns="0" bIns="0" rtlCol="0" anchor="t">
              <a:noAutofit/>
            </a:bodyPr>
            <a:lstStyle/>
            <a:p>
              <a:pPr marL="0" indent="0">
                <a:lnSpc>
                  <a:spcPct val="104000"/>
                </a:lnSpc>
                <a:buNone/>
              </a:pPr>
              <a:r>
                <a:rPr lang="en-US" sz="850" dirty="0">
                  <a:solidFill>
                    <a:srgbClr val="333F70"/>
                  </a:solidFill>
                  <a:latin typeface="Open Sans" pitchFamily="34" charset="0"/>
                  <a:ea typeface="Open Sans" pitchFamily="34" charset="-122"/>
                  <a:cs typeface="Open Sans" pitchFamily="34" charset="-120"/>
                </a:rPr>
                <a:t>User speaks to LUMOS in normal language.</a:t>
              </a:r>
              <a:endParaRPr lang="en-US" sz="850" dirty="0"/>
            </a:p>
          </p:txBody>
        </p:sp>
      </p:grpSp>
      <p:sp>
        <p:nvSpPr>
          <p:cNvPr id="9" name="Text 5"/>
          <p:cNvSpPr/>
          <p:nvPr/>
        </p:nvSpPr>
        <p:spPr>
          <a:xfrm>
            <a:off x="159659" y="2824311"/>
            <a:ext cx="1504167" cy="355510"/>
          </a:xfrm>
          <a:prstGeom prst="rect">
            <a:avLst/>
          </a:prstGeom>
          <a:noFill/>
          <a:ln/>
        </p:spPr>
        <p:txBody>
          <a:bodyPr wrap="square" lIns="0" tIns="0" rIns="0" bIns="0" rtlCol="0" anchor="t">
            <a:normAutofit/>
          </a:bodyPr>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Recognize &amp; Route</a:t>
            </a:r>
            <a:endParaRPr lang="en-US" sz="1100" dirty="0"/>
          </a:p>
        </p:txBody>
      </p:sp>
      <p:sp>
        <p:nvSpPr>
          <p:cNvPr id="10" name="Text 6"/>
          <p:cNvSpPr/>
          <p:nvPr/>
        </p:nvSpPr>
        <p:spPr>
          <a:xfrm>
            <a:off x="159658" y="3312191"/>
            <a:ext cx="1504167" cy="284409"/>
          </a:xfrm>
          <a:prstGeom prst="rect">
            <a:avLst/>
          </a:prstGeom>
          <a:noFill/>
          <a:ln/>
        </p:spPr>
        <p:txBody>
          <a:bodyPr wrap="square" lIns="0" tIns="0" rIns="0" bIns="0" rtlCol="0" anchor="t">
            <a:normAutofit/>
          </a:bodyPr>
          <a:lstStyle/>
          <a:p>
            <a:pPr marL="0" indent="0" algn="l">
              <a:lnSpc>
                <a:spcPct val="104000"/>
              </a:lnSpc>
              <a:buNone/>
            </a:pPr>
            <a:r>
              <a:rPr lang="en-US" sz="850" dirty="0">
                <a:solidFill>
                  <a:srgbClr val="333F70"/>
                </a:solidFill>
                <a:latin typeface="Open Sans" pitchFamily="34" charset="0"/>
                <a:ea typeface="Open Sans" pitchFamily="34" charset="-122"/>
                <a:cs typeface="Open Sans" pitchFamily="34" charset="-120"/>
              </a:rPr>
              <a:t>AI transcribes and routes request to the LLM.</a:t>
            </a:r>
            <a:endParaRPr lang="en-US" sz="850" dirty="0"/>
          </a:p>
        </p:txBody>
      </p:sp>
      <p:sp>
        <p:nvSpPr>
          <p:cNvPr id="11" name="Text 7"/>
          <p:cNvSpPr/>
          <p:nvPr/>
        </p:nvSpPr>
        <p:spPr>
          <a:xfrm>
            <a:off x="4284703" y="2324278"/>
            <a:ext cx="1484219" cy="177755"/>
          </a:xfrm>
          <a:prstGeom prst="rect">
            <a:avLst/>
          </a:prstGeom>
          <a:noFill/>
          <a:ln/>
        </p:spPr>
        <p:txBody>
          <a:bodyPr wrap="none" lIns="0" tIns="0" rIns="0" bIns="0" rtlCol="0" anchor="t"/>
          <a:lstStyle/>
          <a:p>
            <a:pPr marL="0" indent="0" algn="r">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Select &amp; Execute</a:t>
            </a:r>
            <a:endParaRPr lang="en-US" sz="1100" dirty="0"/>
          </a:p>
        </p:txBody>
      </p:sp>
      <p:sp>
        <p:nvSpPr>
          <p:cNvPr id="12" name="Text 8"/>
          <p:cNvSpPr/>
          <p:nvPr/>
        </p:nvSpPr>
        <p:spPr>
          <a:xfrm>
            <a:off x="4264755" y="2539903"/>
            <a:ext cx="1504167" cy="284408"/>
          </a:xfrm>
          <a:prstGeom prst="rect">
            <a:avLst/>
          </a:prstGeom>
          <a:noFill/>
          <a:ln/>
        </p:spPr>
        <p:txBody>
          <a:bodyPr wrap="square" lIns="0" tIns="0" rIns="0" bIns="0" rtlCol="0" anchor="t">
            <a:normAutofit/>
          </a:bodyPr>
          <a:lstStyle/>
          <a:p>
            <a:pPr marL="0" indent="0" algn="r">
              <a:lnSpc>
                <a:spcPct val="104000"/>
              </a:lnSpc>
              <a:buNone/>
            </a:pPr>
            <a:r>
              <a:rPr lang="en-US" sz="850" dirty="0">
                <a:solidFill>
                  <a:srgbClr val="333F70"/>
                </a:solidFill>
                <a:latin typeface="Open Sans" pitchFamily="34" charset="0"/>
                <a:ea typeface="Open Sans" pitchFamily="34" charset="-122"/>
                <a:cs typeface="Open Sans" pitchFamily="34" charset="-120"/>
              </a:rPr>
              <a:t>LLM chooses and runs the required tool or action.</a:t>
            </a:r>
            <a:endParaRPr lang="en-US" sz="850" dirty="0"/>
          </a:p>
        </p:txBody>
      </p:sp>
      <p:sp>
        <p:nvSpPr>
          <p:cNvPr id="13" name="Text 9"/>
          <p:cNvSpPr/>
          <p:nvPr/>
        </p:nvSpPr>
        <p:spPr>
          <a:xfrm>
            <a:off x="4346916" y="3361236"/>
            <a:ext cx="1422006" cy="177755"/>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Speak Result</a:t>
            </a:r>
            <a:endParaRPr lang="en-US" sz="1100" dirty="0"/>
          </a:p>
        </p:txBody>
      </p:sp>
      <p:sp>
        <p:nvSpPr>
          <p:cNvPr id="14" name="Text 10"/>
          <p:cNvSpPr/>
          <p:nvPr/>
        </p:nvSpPr>
        <p:spPr>
          <a:xfrm>
            <a:off x="4346916" y="3567484"/>
            <a:ext cx="1504167" cy="284408"/>
          </a:xfrm>
          <a:prstGeom prst="rect">
            <a:avLst/>
          </a:prstGeom>
          <a:noFill/>
          <a:ln/>
        </p:spPr>
        <p:txBody>
          <a:bodyPr wrap="square" lIns="0" tIns="0" rIns="0" bIns="0" rtlCol="0" anchor="t">
            <a:normAutofit/>
          </a:bodyPr>
          <a:lstStyle/>
          <a:p>
            <a:pPr marL="0" indent="0" algn="l">
              <a:lnSpc>
                <a:spcPct val="104000"/>
              </a:lnSpc>
              <a:buNone/>
            </a:pPr>
            <a:r>
              <a:rPr lang="en-US" sz="850" dirty="0">
                <a:solidFill>
                  <a:srgbClr val="333F70"/>
                </a:solidFill>
                <a:latin typeface="Open Sans" pitchFamily="34" charset="0"/>
                <a:ea typeface="Open Sans" pitchFamily="34" charset="-122"/>
                <a:cs typeface="Open Sans" pitchFamily="34" charset="-120"/>
              </a:rPr>
              <a:t>LUMOS vocalizes the outcome back to the user.</a:t>
            </a:r>
            <a:endParaRPr lang="en-US" sz="850" dirty="0"/>
          </a:p>
        </p:txBody>
      </p:sp>
      <p:sp>
        <p:nvSpPr>
          <p:cNvPr id="15" name="Text 11"/>
          <p:cNvSpPr/>
          <p:nvPr/>
        </p:nvSpPr>
        <p:spPr>
          <a:xfrm>
            <a:off x="159659" y="5373415"/>
            <a:ext cx="11771929" cy="1242538"/>
          </a:xfrm>
          <a:prstGeom prst="rect">
            <a:avLst/>
          </a:prstGeom>
          <a:noFill/>
          <a:ln/>
        </p:spPr>
        <p:txBody>
          <a:bodyPr wrap="square" lIns="0" tIns="0" rIns="0" bIns="0" rtlCol="0" anchor="t">
            <a:noAutofit/>
          </a:bodyPr>
          <a:lstStyle/>
          <a:p>
            <a:pPr marL="0" indent="0" algn="l">
              <a:lnSpc>
                <a:spcPct val="133000"/>
              </a:lnSpc>
              <a:buNone/>
            </a:pPr>
            <a:r>
              <a:rPr lang="en-US" sz="1300" b="1" dirty="0">
                <a:solidFill>
                  <a:srgbClr val="333F70"/>
                </a:solidFill>
                <a:latin typeface="Open Sans" pitchFamily="34" charset="0"/>
                <a:ea typeface="Open Sans" pitchFamily="34" charset="-122"/>
                <a:cs typeface="Open Sans" pitchFamily="34" charset="-120"/>
              </a:rPr>
              <a:t>LUMOS already handles: questions and conversation, web-aware information, music, reminders, persistent memory, image generation, AI music generation, Python execution, file management, GitHub operations, YouTube, HTML hosting, and automated multi-step tasks. It uses its set of tools to achieve what is already possible, like asking for an image of a cat, LUMOS does not have access to cat images, but it can make an API request using one of the tools to get the image.</a:t>
            </a:r>
            <a:endParaRPr lang="en-US" sz="1300" b="1" dirty="0"/>
          </a:p>
        </p:txBody>
      </p:sp>
      <p:sp>
        <p:nvSpPr>
          <p:cNvPr id="19" name="Shape 8">
            <a:extLst>
              <a:ext uri="{FF2B5EF4-FFF2-40B4-BE49-F238E27FC236}">
                <a16:creationId xmlns:a16="http://schemas.microsoft.com/office/drawing/2014/main" id="{E7836B36-D9CC-4876-8F28-AFF540FE3355}"/>
              </a:ext>
            </a:extLst>
          </p:cNvPr>
          <p:cNvSpPr/>
          <p:nvPr/>
        </p:nvSpPr>
        <p:spPr>
          <a:xfrm>
            <a:off x="6454951" y="2159898"/>
            <a:ext cx="5200580" cy="3213517"/>
          </a:xfrm>
          <a:prstGeom prst="roundRect">
            <a:avLst>
              <a:gd name="adj" fmla="val 2759"/>
            </a:avLst>
          </a:prstGeom>
          <a:solidFill>
            <a:srgbClr val="192248"/>
          </a:solidFill>
          <a:ln/>
        </p:spPr>
      </p:sp>
      <p:sp>
        <p:nvSpPr>
          <p:cNvPr id="17" name="TextBox 16">
            <a:extLst>
              <a:ext uri="{FF2B5EF4-FFF2-40B4-BE49-F238E27FC236}">
                <a16:creationId xmlns:a16="http://schemas.microsoft.com/office/drawing/2014/main" id="{AD2D842C-D1E6-49B7-96F6-BDCF540EDC63}"/>
              </a:ext>
            </a:extLst>
          </p:cNvPr>
          <p:cNvSpPr txBox="1"/>
          <p:nvPr/>
        </p:nvSpPr>
        <p:spPr>
          <a:xfrm>
            <a:off x="6515890" y="2240590"/>
            <a:ext cx="3720352" cy="369332"/>
          </a:xfrm>
          <a:prstGeom prst="rect">
            <a:avLst/>
          </a:prstGeom>
          <a:noFill/>
        </p:spPr>
        <p:txBody>
          <a:bodyPr wrap="square" rtlCol="0">
            <a:spAutoFit/>
          </a:bodyPr>
          <a:lstStyle/>
          <a:p>
            <a:pPr marL="0" indent="0" algn="l">
              <a:lnSpc>
                <a:spcPct val="104000"/>
              </a:lnSpc>
              <a:buNone/>
            </a:pPr>
            <a:r>
              <a:rPr lang="en-US" sz="1800" b="1">
                <a:solidFill>
                  <a:srgbClr val="FFFFFF"/>
                </a:solidFill>
                <a:latin typeface="Unbounded Bold" pitchFamily="34" charset="0"/>
                <a:ea typeface="Unbounded Bold" pitchFamily="34" charset="-122"/>
                <a:cs typeface="Unbounded Bold" pitchFamily="34" charset="-120"/>
              </a:rPr>
              <a:t>Demo Flow</a:t>
            </a:r>
            <a:endParaRPr lang="en-US" sz="1800" dirty="0"/>
          </a:p>
        </p:txBody>
      </p:sp>
      <p:sp>
        <p:nvSpPr>
          <p:cNvPr id="20" name="TextBox 19">
            <a:extLst>
              <a:ext uri="{FF2B5EF4-FFF2-40B4-BE49-F238E27FC236}">
                <a16:creationId xmlns:a16="http://schemas.microsoft.com/office/drawing/2014/main" id="{3161E561-6339-44C2-9A1F-6B08B8B5092F}"/>
              </a:ext>
            </a:extLst>
          </p:cNvPr>
          <p:cNvSpPr txBox="1"/>
          <p:nvPr/>
        </p:nvSpPr>
        <p:spPr>
          <a:xfrm>
            <a:off x="6454951" y="2605613"/>
            <a:ext cx="4438981" cy="353238"/>
          </a:xfrm>
          <a:prstGeom prst="rect">
            <a:avLst/>
          </a:prstGeom>
          <a:noFill/>
        </p:spPr>
        <p:txBody>
          <a:bodyPr wrap="square" rtlCol="0">
            <a:spAutoFit/>
          </a:bodyPr>
          <a:lstStyle/>
          <a:p>
            <a:pPr marL="0" indent="0" algn="l">
              <a:lnSpc>
                <a:spcPct val="133000"/>
              </a:lnSpc>
              <a:buNone/>
            </a:pPr>
            <a:r>
              <a:rPr lang="en-US" sz="1400" dirty="0">
                <a:solidFill>
                  <a:srgbClr val="FFFFFF"/>
                </a:solidFill>
                <a:latin typeface="Open Sans" pitchFamily="34" charset="0"/>
                <a:ea typeface="Open Sans" pitchFamily="34" charset="-122"/>
                <a:cs typeface="Open Sans" pitchFamily="34" charset="-120"/>
              </a:rPr>
              <a:t>“LUMOS, remember my project deadline."</a:t>
            </a:r>
            <a:endParaRPr lang="en-US" sz="1400" dirty="0"/>
          </a:p>
        </p:txBody>
      </p:sp>
      <p:sp>
        <p:nvSpPr>
          <p:cNvPr id="21" name="TextBox 20">
            <a:extLst>
              <a:ext uri="{FF2B5EF4-FFF2-40B4-BE49-F238E27FC236}">
                <a16:creationId xmlns:a16="http://schemas.microsoft.com/office/drawing/2014/main" id="{BB2E373F-EBAA-405A-8FBE-1469B74FB7B9}"/>
              </a:ext>
            </a:extLst>
          </p:cNvPr>
          <p:cNvSpPr txBox="1"/>
          <p:nvPr/>
        </p:nvSpPr>
        <p:spPr>
          <a:xfrm>
            <a:off x="6454950" y="2958851"/>
            <a:ext cx="3558988" cy="1372876"/>
          </a:xfrm>
          <a:prstGeom prst="rect">
            <a:avLst/>
          </a:prstGeom>
          <a:noFill/>
        </p:spPr>
        <p:txBody>
          <a:bodyPr wrap="square" rtlCol="0">
            <a:spAutoFit/>
          </a:bodyPr>
          <a:lstStyle/>
          <a:p>
            <a:pPr marL="0" indent="0" algn="l">
              <a:lnSpc>
                <a:spcPct val="133000"/>
              </a:lnSpc>
              <a:buNone/>
            </a:pPr>
            <a:r>
              <a:rPr lang="en-US" sz="1600" dirty="0">
                <a:solidFill>
                  <a:srgbClr val="FFFFFF"/>
                </a:solidFill>
                <a:latin typeface="Open Sans" pitchFamily="34" charset="0"/>
                <a:ea typeface="Open Sans" pitchFamily="34" charset="-122"/>
                <a:cs typeface="Open Sans" pitchFamily="34" charset="-120"/>
              </a:rPr>
              <a:t>→ Understands the request</a:t>
            </a:r>
            <a:endParaRPr lang="en-US" sz="1600" dirty="0"/>
          </a:p>
          <a:p>
            <a:pPr marL="0" indent="0" algn="l">
              <a:lnSpc>
                <a:spcPct val="133000"/>
              </a:lnSpc>
              <a:buNone/>
            </a:pPr>
            <a:r>
              <a:rPr lang="en-US" sz="1600" dirty="0">
                <a:solidFill>
                  <a:srgbClr val="FFFFFF"/>
                </a:solidFill>
                <a:latin typeface="Open Sans" pitchFamily="34" charset="0"/>
                <a:ea typeface="Open Sans" pitchFamily="34" charset="-122"/>
                <a:cs typeface="Open Sans" pitchFamily="34" charset="-120"/>
              </a:rPr>
              <a:t>→ Uses the memory system</a:t>
            </a:r>
            <a:endParaRPr lang="en-US" sz="1600" dirty="0"/>
          </a:p>
          <a:p>
            <a:pPr marL="0" indent="0" algn="l">
              <a:lnSpc>
                <a:spcPct val="133000"/>
              </a:lnSpc>
              <a:buNone/>
            </a:pPr>
            <a:r>
              <a:rPr lang="en-US" sz="1600" dirty="0">
                <a:solidFill>
                  <a:srgbClr val="FFFFFF"/>
                </a:solidFill>
                <a:latin typeface="Open Sans" pitchFamily="34" charset="0"/>
                <a:ea typeface="Open Sans" pitchFamily="34" charset="-122"/>
                <a:cs typeface="Open Sans" pitchFamily="34" charset="-120"/>
              </a:rPr>
              <a:t>→ Stores the information</a:t>
            </a:r>
            <a:endParaRPr lang="en-US" sz="1600" dirty="0"/>
          </a:p>
          <a:p>
            <a:pPr marL="0" indent="0" algn="l">
              <a:lnSpc>
                <a:spcPct val="133000"/>
              </a:lnSpc>
              <a:buNone/>
            </a:pPr>
            <a:r>
              <a:rPr lang="en-US" sz="1600" dirty="0">
                <a:solidFill>
                  <a:srgbClr val="FFFFFF"/>
                </a:solidFill>
                <a:latin typeface="Open Sans" pitchFamily="34" charset="0"/>
                <a:ea typeface="Open Sans" pitchFamily="34" charset="-122"/>
                <a:cs typeface="Open Sans" pitchFamily="34" charset="-120"/>
              </a:rPr>
              <a:t>→ Confirms through voice</a:t>
            </a:r>
            <a:endParaRPr lang="en-US" sz="1600" dirty="0"/>
          </a:p>
        </p:txBody>
      </p:sp>
      <p:sp>
        <p:nvSpPr>
          <p:cNvPr id="22" name="TextBox 21">
            <a:extLst>
              <a:ext uri="{FF2B5EF4-FFF2-40B4-BE49-F238E27FC236}">
                <a16:creationId xmlns:a16="http://schemas.microsoft.com/office/drawing/2014/main" id="{5C3CDA23-9AD0-489E-96C8-04BFDE2CAC95}"/>
              </a:ext>
            </a:extLst>
          </p:cNvPr>
          <p:cNvSpPr txBox="1"/>
          <p:nvPr/>
        </p:nvSpPr>
        <p:spPr>
          <a:xfrm>
            <a:off x="6553180" y="4387974"/>
            <a:ext cx="4833583" cy="926600"/>
          </a:xfrm>
          <a:prstGeom prst="rect">
            <a:avLst/>
          </a:prstGeom>
          <a:noFill/>
        </p:spPr>
        <p:txBody>
          <a:bodyPr wrap="square" rtlCol="0">
            <a:spAutoFit/>
          </a:bodyPr>
          <a:lstStyle/>
          <a:p>
            <a:pPr marL="0" indent="0" algn="l">
              <a:lnSpc>
                <a:spcPct val="133000"/>
              </a:lnSpc>
              <a:buNone/>
            </a:pPr>
            <a:r>
              <a:rPr lang="en-US" sz="1400" dirty="0">
                <a:solidFill>
                  <a:srgbClr val="FFFFFF"/>
                </a:solidFill>
                <a:latin typeface="Open Sans" pitchFamily="34" charset="0"/>
                <a:ea typeface="Open Sans" pitchFamily="34" charset="-122"/>
                <a:cs typeface="Open Sans" pitchFamily="34" charset="-120"/>
              </a:rPr>
              <a:t>This single interaction demonstrates the core idea: </a:t>
            </a:r>
            <a:r>
              <a:rPr lang="en-US" sz="1400" b="1" dirty="0">
                <a:solidFill>
                  <a:srgbClr val="FFFFFF"/>
                </a:solidFill>
                <a:latin typeface="Open Sans Bold" pitchFamily="34" charset="0"/>
                <a:ea typeface="Open Sans Bold" pitchFamily="34" charset="-122"/>
                <a:cs typeface="Open Sans Bold" pitchFamily="34" charset="-120"/>
              </a:rPr>
              <a:t>natural language → AI reasoning → tool execution → response.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7101"/>
            <a:ext cx="10868745" cy="492621"/>
          </a:xfrm>
          <a:prstGeom prst="rect">
            <a:avLst/>
          </a:prstGeom>
          <a:noFill/>
          <a:ln/>
        </p:spPr>
        <p:txBody>
          <a:bodyPr wrap="none" lIns="0" tIns="0" rIns="0" bIns="0" rtlCol="0" anchor="t"/>
          <a:lstStyle/>
          <a:p>
            <a:pPr marL="0" indent="0" algn="l">
              <a:lnSpc>
                <a:spcPct val="104000"/>
              </a:lnSpc>
              <a:buNone/>
            </a:pPr>
            <a:r>
              <a:rPr lang="en-US" sz="3100" b="1" dirty="0">
                <a:solidFill>
                  <a:srgbClr val="333F70"/>
                </a:solidFill>
                <a:latin typeface="Unbounded Bold" pitchFamily="34" charset="0"/>
                <a:ea typeface="Unbounded Bold" pitchFamily="34" charset="-122"/>
                <a:cs typeface="Unbounded Bold" pitchFamily="34" charset="-120"/>
              </a:rPr>
              <a:t>An AI Brain Inside a Small Home Device</a:t>
            </a:r>
            <a:endParaRPr lang="en-US" sz="3100" dirty="0"/>
          </a:p>
        </p:txBody>
      </p:sp>
      <p:sp>
        <p:nvSpPr>
          <p:cNvPr id="3" name="Text 1"/>
          <p:cNvSpPr/>
          <p:nvPr/>
        </p:nvSpPr>
        <p:spPr>
          <a:xfrm>
            <a:off x="661475" y="1250156"/>
            <a:ext cx="11478330" cy="246261"/>
          </a:xfrm>
          <a:prstGeom prst="rect">
            <a:avLst/>
          </a:prstGeom>
          <a:noFill/>
          <a:ln/>
        </p:spPr>
        <p:txBody>
          <a:bodyPr wrap="none" lIns="0" tIns="0" rIns="0" bIns="0" rtlCol="0" anchor="t"/>
          <a:lstStyle/>
          <a:p>
            <a:pPr marL="0" indent="0" algn="l">
              <a:lnSpc>
                <a:spcPct val="130000"/>
              </a:lnSpc>
              <a:buNone/>
            </a:pPr>
            <a:r>
              <a:rPr lang="en-US" sz="1200" dirty="0">
                <a:solidFill>
                  <a:srgbClr val="333F70"/>
                </a:solidFill>
                <a:latin typeface="Open Sans" pitchFamily="34" charset="0"/>
                <a:ea typeface="Open Sans" pitchFamily="34" charset="-122"/>
                <a:cs typeface="Open Sans" pitchFamily="34" charset="-120"/>
              </a:rPr>
              <a:t>LUMOS's architecture is built in four interconnected layers, each supporting multiple providers, keeping the system flexible and future-proof.</a:t>
            </a:r>
            <a:endParaRPr lang="en-US" sz="1200" dirty="0"/>
          </a:p>
        </p:txBody>
      </p:sp>
      <p:sp>
        <p:nvSpPr>
          <p:cNvPr id="4" name="Shape 2"/>
          <p:cNvSpPr/>
          <p:nvPr/>
        </p:nvSpPr>
        <p:spPr>
          <a:xfrm>
            <a:off x="661475" y="1665387"/>
            <a:ext cx="5359266" cy="1779786"/>
          </a:xfrm>
          <a:prstGeom prst="roundRect">
            <a:avLst>
              <a:gd name="adj" fmla="val 3720"/>
            </a:avLst>
          </a:prstGeom>
          <a:solidFill>
            <a:srgbClr val="D6F5EE"/>
          </a:solidFill>
          <a:ln w="6350">
            <a:solidFill>
              <a:srgbClr val="BCDBD4"/>
            </a:solidFill>
            <a:prstDash val="solid"/>
          </a:ln>
        </p:spPr>
      </p:sp>
      <p:sp>
        <p:nvSpPr>
          <p:cNvPr id="5" name="Shape 3"/>
          <p:cNvSpPr/>
          <p:nvPr/>
        </p:nvSpPr>
        <p:spPr>
          <a:xfrm>
            <a:off x="825380" y="1829296"/>
            <a:ext cx="472865" cy="472877"/>
          </a:xfrm>
          <a:prstGeom prst="ellipse">
            <a:avLst/>
          </a:prstGeom>
          <a:solidFill>
            <a:srgbClr val="26A688"/>
          </a:solidFill>
          <a:ln/>
        </p:spPr>
      </p:sp>
      <p:sp>
        <p:nvSpPr>
          <p:cNvPr id="7" name="Text 4"/>
          <p:cNvSpPr/>
          <p:nvPr/>
        </p:nvSpPr>
        <p:spPr>
          <a:xfrm>
            <a:off x="825380" y="2452390"/>
            <a:ext cx="5031455" cy="246261"/>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ea typeface="Unbounded Bold" pitchFamily="34" charset="-122"/>
                <a:cs typeface="Unbounded Bold" pitchFamily="34" charset="-120"/>
              </a:rPr>
              <a:t>Speech Recognition</a:t>
            </a:r>
            <a:endParaRPr lang="en-US" sz="1550" dirty="0"/>
          </a:p>
        </p:txBody>
      </p:sp>
      <p:sp>
        <p:nvSpPr>
          <p:cNvPr id="8" name="Text 5"/>
          <p:cNvSpPr/>
          <p:nvPr/>
        </p:nvSpPr>
        <p:spPr>
          <a:xfrm>
            <a:off x="825380" y="2788741"/>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33F70"/>
                </a:solidFill>
                <a:latin typeface="Open Sans" pitchFamily="34" charset="0"/>
                <a:ea typeface="Open Sans" pitchFamily="34" charset="-122"/>
                <a:cs typeface="Open Sans" pitchFamily="34" charset="-120"/>
              </a:rPr>
              <a:t>Google Speech Recognition and Whisper python library accurate voice input from any distance.</a:t>
            </a:r>
            <a:endParaRPr lang="en-US" sz="1200" dirty="0"/>
          </a:p>
        </p:txBody>
      </p:sp>
      <p:sp>
        <p:nvSpPr>
          <p:cNvPr id="9" name="Shape 6"/>
          <p:cNvSpPr/>
          <p:nvPr/>
        </p:nvSpPr>
        <p:spPr>
          <a:xfrm>
            <a:off x="6170954" y="1665387"/>
            <a:ext cx="5359266" cy="1779786"/>
          </a:xfrm>
          <a:prstGeom prst="roundRect">
            <a:avLst>
              <a:gd name="adj" fmla="val 3720"/>
            </a:avLst>
          </a:prstGeom>
          <a:solidFill>
            <a:srgbClr val="D6F5EE"/>
          </a:solidFill>
          <a:ln w="6350">
            <a:solidFill>
              <a:srgbClr val="BCDBD4"/>
            </a:solidFill>
            <a:prstDash val="solid"/>
          </a:ln>
        </p:spPr>
      </p:sp>
      <p:sp>
        <p:nvSpPr>
          <p:cNvPr id="10" name="Shape 7"/>
          <p:cNvSpPr/>
          <p:nvPr/>
        </p:nvSpPr>
        <p:spPr>
          <a:xfrm>
            <a:off x="6334859" y="1829296"/>
            <a:ext cx="472865" cy="472877"/>
          </a:xfrm>
          <a:prstGeom prst="ellipse">
            <a:avLst/>
          </a:prstGeom>
          <a:solidFill>
            <a:srgbClr val="26A688"/>
          </a:solidFill>
          <a:ln/>
        </p:spPr>
      </p:sp>
      <p:sp>
        <p:nvSpPr>
          <p:cNvPr id="12" name="Text 8"/>
          <p:cNvSpPr/>
          <p:nvPr/>
        </p:nvSpPr>
        <p:spPr>
          <a:xfrm>
            <a:off x="6334859" y="2452390"/>
            <a:ext cx="5031455" cy="246261"/>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ea typeface="Unbounded Bold" pitchFamily="34" charset="-122"/>
                <a:cs typeface="Unbounded Bold" pitchFamily="34" charset="-120"/>
              </a:rPr>
              <a:t>LLM Layer</a:t>
            </a:r>
            <a:endParaRPr lang="en-US" sz="1550" dirty="0"/>
          </a:p>
        </p:txBody>
      </p:sp>
      <p:sp>
        <p:nvSpPr>
          <p:cNvPr id="13" name="Text 9"/>
          <p:cNvSpPr/>
          <p:nvPr/>
        </p:nvSpPr>
        <p:spPr>
          <a:xfrm>
            <a:off x="6334859" y="2788741"/>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33F70"/>
                </a:solidFill>
                <a:latin typeface="Open Sans" pitchFamily="34" charset="0"/>
                <a:ea typeface="Open Sans" pitchFamily="34" charset="-122"/>
                <a:cs typeface="Open Sans" pitchFamily="34" charset="-120"/>
              </a:rPr>
              <a:t>OpenRouter and Google Gemini for web-aware AI model-flexible architecture, not locked to one provider.</a:t>
            </a:r>
            <a:endParaRPr lang="en-US" sz="1200" dirty="0"/>
          </a:p>
        </p:txBody>
      </p:sp>
      <p:sp>
        <p:nvSpPr>
          <p:cNvPr id="14" name="Shape 10"/>
          <p:cNvSpPr/>
          <p:nvPr/>
        </p:nvSpPr>
        <p:spPr>
          <a:xfrm>
            <a:off x="661475" y="3595390"/>
            <a:ext cx="5359266" cy="1779786"/>
          </a:xfrm>
          <a:prstGeom prst="roundRect">
            <a:avLst>
              <a:gd name="adj" fmla="val 3720"/>
            </a:avLst>
          </a:prstGeom>
          <a:solidFill>
            <a:srgbClr val="D6F5EE"/>
          </a:solidFill>
          <a:ln w="6350">
            <a:solidFill>
              <a:srgbClr val="BCDBD4"/>
            </a:solidFill>
            <a:prstDash val="solid"/>
          </a:ln>
        </p:spPr>
      </p:sp>
      <p:sp>
        <p:nvSpPr>
          <p:cNvPr id="15" name="Shape 11"/>
          <p:cNvSpPr/>
          <p:nvPr/>
        </p:nvSpPr>
        <p:spPr>
          <a:xfrm>
            <a:off x="825380" y="3759299"/>
            <a:ext cx="472865" cy="472877"/>
          </a:xfrm>
          <a:prstGeom prst="ellipse">
            <a:avLst/>
          </a:prstGeom>
          <a:solidFill>
            <a:srgbClr val="26A688"/>
          </a:solidFill>
          <a:ln/>
        </p:spPr>
      </p:sp>
      <p:sp>
        <p:nvSpPr>
          <p:cNvPr id="17" name="Text 12"/>
          <p:cNvSpPr/>
          <p:nvPr/>
        </p:nvSpPr>
        <p:spPr>
          <a:xfrm>
            <a:off x="825380" y="4382393"/>
            <a:ext cx="5031455" cy="246261"/>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ea typeface="Unbounded Bold" pitchFamily="34" charset="-122"/>
                <a:cs typeface="Unbounded Bold" pitchFamily="34" charset="-120"/>
              </a:rPr>
              <a:t>Text-to-Speech</a:t>
            </a:r>
            <a:endParaRPr lang="en-US" sz="1550" dirty="0"/>
          </a:p>
        </p:txBody>
      </p:sp>
      <p:sp>
        <p:nvSpPr>
          <p:cNvPr id="18" name="Text 13"/>
          <p:cNvSpPr/>
          <p:nvPr/>
        </p:nvSpPr>
        <p:spPr>
          <a:xfrm>
            <a:off x="825380" y="4718745"/>
            <a:ext cx="503145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33F70"/>
                </a:solidFill>
                <a:latin typeface="Open Sans" pitchFamily="34" charset="0"/>
                <a:ea typeface="Open Sans" pitchFamily="34" charset="-122"/>
                <a:cs typeface="Open Sans" pitchFamily="34" charset="-120"/>
              </a:rPr>
              <a:t>Cartesia natural, expressive voice output for every response in a melodious voice.</a:t>
            </a:r>
            <a:endParaRPr lang="en-US" sz="1200" dirty="0"/>
          </a:p>
        </p:txBody>
      </p:sp>
      <p:sp>
        <p:nvSpPr>
          <p:cNvPr id="19" name="Shape 14"/>
          <p:cNvSpPr/>
          <p:nvPr/>
        </p:nvSpPr>
        <p:spPr>
          <a:xfrm>
            <a:off x="6170954" y="3595390"/>
            <a:ext cx="5359266" cy="1779786"/>
          </a:xfrm>
          <a:prstGeom prst="roundRect">
            <a:avLst>
              <a:gd name="adj" fmla="val 3720"/>
            </a:avLst>
          </a:prstGeom>
          <a:solidFill>
            <a:srgbClr val="D6F5EE"/>
          </a:solidFill>
          <a:ln w="6350">
            <a:solidFill>
              <a:srgbClr val="BCDBD4"/>
            </a:solidFill>
            <a:prstDash val="solid"/>
          </a:ln>
        </p:spPr>
      </p:sp>
      <p:sp>
        <p:nvSpPr>
          <p:cNvPr id="20" name="Shape 15"/>
          <p:cNvSpPr/>
          <p:nvPr/>
        </p:nvSpPr>
        <p:spPr>
          <a:xfrm>
            <a:off x="6334859" y="3759299"/>
            <a:ext cx="472865" cy="472877"/>
          </a:xfrm>
          <a:prstGeom prst="ellipse">
            <a:avLst/>
          </a:prstGeom>
          <a:solidFill>
            <a:srgbClr val="26A688"/>
          </a:solidFill>
          <a:ln/>
        </p:spPr>
      </p:sp>
      <p:sp>
        <p:nvSpPr>
          <p:cNvPr id="22" name="Text 16"/>
          <p:cNvSpPr/>
          <p:nvPr/>
        </p:nvSpPr>
        <p:spPr>
          <a:xfrm>
            <a:off x="6334859" y="4382393"/>
            <a:ext cx="5031455" cy="246261"/>
          </a:xfrm>
          <a:prstGeom prst="rect">
            <a:avLst/>
          </a:prstGeom>
          <a:noFill/>
          <a:ln/>
        </p:spPr>
        <p:txBody>
          <a:bodyPr wrap="none" lIns="0" tIns="0" rIns="0" bIns="0" rtlCol="0" anchor="t"/>
          <a:lstStyle/>
          <a:p>
            <a:pPr marL="0" indent="0" algn="l">
              <a:lnSpc>
                <a:spcPct val="104000"/>
              </a:lnSpc>
              <a:buNone/>
            </a:pPr>
            <a:r>
              <a:rPr lang="en-US" sz="1550" b="1" dirty="0">
                <a:solidFill>
                  <a:srgbClr val="333F70"/>
                </a:solidFill>
                <a:latin typeface="Unbounded Bold" pitchFamily="34" charset="0"/>
                <a:ea typeface="Unbounded Bold" pitchFamily="34" charset="-122"/>
                <a:cs typeface="Unbounded Bold" pitchFamily="34" charset="-120"/>
              </a:rPr>
              <a:t>Tool Layer</a:t>
            </a:r>
            <a:endParaRPr lang="en-US" sz="1550" dirty="0"/>
          </a:p>
        </p:txBody>
      </p:sp>
      <p:sp>
        <p:nvSpPr>
          <p:cNvPr id="23" name="Text 17"/>
          <p:cNvSpPr/>
          <p:nvPr/>
        </p:nvSpPr>
        <p:spPr>
          <a:xfrm>
            <a:off x="6334859" y="4693742"/>
            <a:ext cx="5031455" cy="650874"/>
          </a:xfrm>
          <a:prstGeom prst="rect">
            <a:avLst/>
          </a:prstGeom>
          <a:noFill/>
          <a:ln/>
        </p:spPr>
        <p:txBody>
          <a:bodyPr wrap="square" lIns="0" tIns="0" rIns="0" bIns="0" rtlCol="0" anchor="t">
            <a:normAutofit lnSpcReduction="10000"/>
          </a:bodyPr>
          <a:lstStyle/>
          <a:p>
            <a:pPr marL="0" indent="0" algn="l">
              <a:lnSpc>
                <a:spcPct val="130000"/>
              </a:lnSpc>
              <a:buNone/>
            </a:pPr>
            <a:r>
              <a:rPr lang="en-US" sz="1200" dirty="0">
                <a:solidFill>
                  <a:srgbClr val="333F70"/>
                </a:solidFill>
                <a:latin typeface="Open Sans" pitchFamily="34" charset="0"/>
                <a:ea typeface="Open Sans" pitchFamily="34" charset="-122"/>
                <a:cs typeface="Open Sans" pitchFamily="34" charset="-120"/>
              </a:rPr>
              <a:t>Music, memory, reminders, files, Python, GitHub, YouTube, image generation, web services, HTML hosting Tools to allow LUMOS to achieve goals that aren’t possible normally.</a:t>
            </a:r>
            <a:endParaRPr lang="en-US" sz="1200" dirty="0"/>
          </a:p>
        </p:txBody>
      </p:sp>
      <p:sp>
        <p:nvSpPr>
          <p:cNvPr id="24" name="Shape 18"/>
          <p:cNvSpPr/>
          <p:nvPr/>
        </p:nvSpPr>
        <p:spPr>
          <a:xfrm>
            <a:off x="661475" y="5544145"/>
            <a:ext cx="10868745" cy="856655"/>
          </a:xfrm>
          <a:prstGeom prst="roundRect">
            <a:avLst>
              <a:gd name="adj" fmla="val 7729"/>
            </a:avLst>
          </a:prstGeom>
          <a:solidFill>
            <a:srgbClr val="D6F5EE"/>
          </a:solidFill>
          <a:ln/>
        </p:spPr>
      </p:sp>
      <p:pic>
        <p:nvPicPr>
          <p:cNvPr id="25" name="Image 4" descr="preencoded.png"/>
          <p:cNvPicPr>
            <a:picLocks noChangeAspect="1"/>
          </p:cNvPicPr>
          <p:nvPr/>
        </p:nvPicPr>
        <p:blipFill>
          <a:blip r:embed="rId3"/>
          <a:stretch>
            <a:fillRect/>
          </a:stretch>
        </p:blipFill>
        <p:spPr>
          <a:xfrm>
            <a:off x="819030" y="5760938"/>
            <a:ext cx="197044" cy="157559"/>
          </a:xfrm>
          <a:prstGeom prst="rect">
            <a:avLst/>
          </a:prstGeom>
        </p:spPr>
      </p:pic>
      <p:sp>
        <p:nvSpPr>
          <p:cNvPr id="26" name="Text 19"/>
          <p:cNvSpPr/>
          <p:nvPr/>
        </p:nvSpPr>
        <p:spPr>
          <a:xfrm>
            <a:off x="1173629" y="5733752"/>
            <a:ext cx="1019903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Open Sans" pitchFamily="34" charset="0"/>
                <a:ea typeface="Open Sans" pitchFamily="34" charset="-122"/>
                <a:cs typeface="Open Sans" pitchFamily="34" charset="-120"/>
              </a:rPr>
              <a:t>The innovation isn't putting AI inside a speaker, it's connecting an LLM to an expandable tool ecosystem through a dedicated voice-first device.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88504"/>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LUMOS Is Already More Than a Concept</a:t>
            </a:r>
            <a:endParaRPr lang="en-US" sz="3250" dirty="0"/>
          </a:p>
        </p:txBody>
      </p:sp>
      <p:sp>
        <p:nvSpPr>
          <p:cNvPr id="3" name="Text 1"/>
          <p:cNvSpPr/>
          <p:nvPr/>
        </p:nvSpPr>
        <p:spPr>
          <a:xfrm>
            <a:off x="661475" y="1818580"/>
            <a:ext cx="5796214"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Current Prototype Capabilities</a:t>
            </a:r>
            <a:endParaRPr lang="en-US" sz="16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485" y="2268141"/>
            <a:ext cx="248041" cy="248047"/>
          </a:xfrm>
          <a:prstGeom prst="rect">
            <a:avLst/>
          </a:prstGeom>
        </p:spPr>
      </p:pic>
      <p:sp>
        <p:nvSpPr>
          <p:cNvPr id="5" name="Text 2"/>
          <p:cNvSpPr/>
          <p:nvPr/>
        </p:nvSpPr>
        <p:spPr>
          <a:xfrm>
            <a:off x="1198830" y="2263080"/>
            <a:ext cx="5258859"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Voice &amp; AI Core</a:t>
            </a:r>
            <a:endParaRPr lang="en-US" sz="1600" dirty="0"/>
          </a:p>
        </p:txBody>
      </p:sp>
      <p:sp>
        <p:nvSpPr>
          <p:cNvPr id="6" name="Text 3"/>
          <p:cNvSpPr/>
          <p:nvPr/>
        </p:nvSpPr>
        <p:spPr>
          <a:xfrm>
            <a:off x="1198830" y="2686844"/>
            <a:ext cx="525885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Wake-word detection, speech-to-text, AI-generated speech, multiple LLM backends, model switching, web-aware AI mode.</a:t>
            </a:r>
            <a:endParaRPr lang="en-US" sz="13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485" y="3551833"/>
            <a:ext cx="248041" cy="248047"/>
          </a:xfrm>
          <a:prstGeom prst="rect">
            <a:avLst/>
          </a:prstGeom>
        </p:spPr>
      </p:pic>
      <p:sp>
        <p:nvSpPr>
          <p:cNvPr id="8" name="Text 4"/>
          <p:cNvSpPr/>
          <p:nvPr/>
        </p:nvSpPr>
        <p:spPr>
          <a:xfrm>
            <a:off x="1198830" y="3546773"/>
            <a:ext cx="5258859"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Assistant Features</a:t>
            </a:r>
            <a:endParaRPr lang="en-US" sz="1600" dirty="0"/>
          </a:p>
        </p:txBody>
      </p:sp>
      <p:sp>
        <p:nvSpPr>
          <p:cNvPr id="9" name="Text 5"/>
          <p:cNvSpPr/>
          <p:nvPr/>
        </p:nvSpPr>
        <p:spPr>
          <a:xfrm>
            <a:off x="1198830" y="3970536"/>
            <a:ext cx="525885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Alarms, reminders, </a:t>
            </a:r>
            <a:r>
              <a:rPr lang="en-US" sz="1300">
                <a:solidFill>
                  <a:srgbClr val="333F70"/>
                </a:solidFill>
                <a:latin typeface="Open Sans" pitchFamily="34" charset="0"/>
                <a:ea typeface="Open Sans" pitchFamily="34" charset="-122"/>
                <a:cs typeface="Open Sans" pitchFamily="34" charset="-120"/>
              </a:rPr>
              <a:t>persistent memory</a:t>
            </a:r>
            <a:r>
              <a:rPr lang="en-US" sz="1300" dirty="0">
                <a:solidFill>
                  <a:srgbClr val="333F70"/>
                </a:solidFill>
                <a:latin typeface="Open Sans" pitchFamily="34" charset="0"/>
                <a:ea typeface="Open Sans" pitchFamily="34" charset="-122"/>
                <a:cs typeface="Open Sans" pitchFamily="34" charset="-120"/>
              </a:rPr>
              <a:t>, time queries, music search, playback, playlists, volume control, AI music generation.</a:t>
            </a:r>
            <a:endParaRPr lang="en-US" sz="130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485" y="4835525"/>
            <a:ext cx="248041" cy="248047"/>
          </a:xfrm>
          <a:prstGeom prst="rect">
            <a:avLst/>
          </a:prstGeom>
        </p:spPr>
      </p:pic>
      <p:sp>
        <p:nvSpPr>
          <p:cNvPr id="11" name="Text 6"/>
          <p:cNvSpPr/>
          <p:nvPr/>
        </p:nvSpPr>
        <p:spPr>
          <a:xfrm>
            <a:off x="1198830" y="4830465"/>
            <a:ext cx="5258859"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Creation &amp; Dev Tools</a:t>
            </a:r>
            <a:endParaRPr lang="en-US" sz="1600" dirty="0"/>
          </a:p>
        </p:txBody>
      </p:sp>
      <p:sp>
        <p:nvSpPr>
          <p:cNvPr id="12" name="Text 7"/>
          <p:cNvSpPr/>
          <p:nvPr/>
        </p:nvSpPr>
        <p:spPr>
          <a:xfrm>
            <a:off x="1198830" y="5254228"/>
            <a:ext cx="525885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Image generation, Python execution, file creation/editing, HTML hosting, GitHub search, repo cloning, code operations.</a:t>
            </a:r>
            <a:endParaRPr lang="en-US" sz="1300" dirty="0"/>
          </a:p>
        </p:txBody>
      </p:sp>
      <p:sp>
        <p:nvSpPr>
          <p:cNvPr id="21" name="5-Point Star 20"/>
          <p:cNvSpPr/>
          <p:nvPr/>
        </p:nvSpPr>
        <p:spPr>
          <a:xfrm>
            <a:off x="11490236" y="125413"/>
            <a:ext cx="417250" cy="38377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DA3C9BF-B68F-480E-8C9E-AC55ED4E43F6}"/>
              </a:ext>
            </a:extLst>
          </p:cNvPr>
          <p:cNvSpPr txBox="1"/>
          <p:nvPr/>
        </p:nvSpPr>
        <p:spPr>
          <a:xfrm>
            <a:off x="5307106" y="376518"/>
            <a:ext cx="3702423" cy="369332"/>
          </a:xfrm>
          <a:prstGeom prst="rect">
            <a:avLst/>
          </a:prstGeom>
          <a:noFill/>
        </p:spPr>
        <p:txBody>
          <a:bodyPr wrap="square" rtlCol="0">
            <a:spAutoFit/>
          </a:bodyPr>
          <a:lstStyle/>
          <a:p>
            <a:r>
              <a:rPr lang="en-IN" dirty="0" err="1"/>
              <a:t>Screeshots</a:t>
            </a:r>
            <a:r>
              <a:rPr lang="en-IN" dirty="0"/>
              <a:t> and video of model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5542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Who Is LUMOS For?</a:t>
            </a:r>
            <a:endParaRPr lang="en-US" sz="3250" dirty="0"/>
          </a:p>
        </p:txBody>
      </p:sp>
      <p:sp>
        <p:nvSpPr>
          <p:cNvPr id="3" name="Text 1"/>
          <p:cNvSpPr/>
          <p:nvPr/>
        </p:nvSpPr>
        <p:spPr>
          <a:xfrm>
            <a:off x="661475" y="2202855"/>
            <a:ext cx="10868745" cy="529233"/>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333F70"/>
                </a:solidFill>
                <a:latin typeface="Open Sans" pitchFamily="34" charset="0"/>
                <a:ea typeface="Open Sans" pitchFamily="34" charset="-122"/>
                <a:cs typeface="Open Sans" pitchFamily="34" charset="-120"/>
              </a:rPr>
              <a:t>LUMOS serves a wide range of users, from families needing everyday help to developers automating complex workflows. The common thread: natural voice interaction that actually gets things done.</a:t>
            </a:r>
            <a:endParaRPr lang="en-US" sz="1400" dirty="0"/>
          </a:p>
        </p:txBody>
      </p:sp>
      <p:pic>
        <p:nvPicPr>
          <p:cNvPr id="4" name="Image 0" descr="preencoded.png"/>
          <p:cNvPicPr>
            <a:picLocks noChangeAspect="1"/>
          </p:cNvPicPr>
          <p:nvPr/>
        </p:nvPicPr>
        <p:blipFill>
          <a:blip r:embed="rId3"/>
          <a:stretch>
            <a:fillRect/>
          </a:stretch>
        </p:blipFill>
        <p:spPr>
          <a:xfrm>
            <a:off x="661475" y="2918123"/>
            <a:ext cx="1127295" cy="696714"/>
          </a:xfrm>
          <a:prstGeom prst="rect">
            <a:avLst/>
          </a:prstGeom>
        </p:spPr>
      </p:pic>
      <p:sp>
        <p:nvSpPr>
          <p:cNvPr id="5" name="Text 2"/>
          <p:cNvSpPr/>
          <p:nvPr/>
        </p:nvSpPr>
        <p:spPr>
          <a:xfrm>
            <a:off x="661475" y="3821509"/>
            <a:ext cx="2562161" cy="26481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Noto Color Emoji" pitchFamily="34" charset="0"/>
                <a:ea typeface="Noto Color Emoji" pitchFamily="34" charset="-122"/>
                <a:cs typeface="Noto Color Emoji" pitchFamily="34" charset="-120"/>
              </a:rPr>
              <a:t>🏠</a:t>
            </a:r>
            <a:r>
              <a:rPr lang="en-US" sz="1600" b="1" dirty="0">
                <a:solidFill>
                  <a:srgbClr val="333F70"/>
                </a:solidFill>
                <a:latin typeface="Unbounded Bold" pitchFamily="34" charset="0"/>
                <a:ea typeface="Unbounded Bold" pitchFamily="34" charset="-122"/>
                <a:cs typeface="Unbounded Bold" pitchFamily="34" charset="-120"/>
              </a:rPr>
              <a:t> Families</a:t>
            </a:r>
            <a:endParaRPr lang="en-US" sz="1600" dirty="0"/>
          </a:p>
        </p:txBody>
      </p:sp>
      <p:sp>
        <p:nvSpPr>
          <p:cNvPr id="6" name="Text 3"/>
          <p:cNvSpPr/>
          <p:nvPr/>
        </p:nvSpPr>
        <p:spPr>
          <a:xfrm>
            <a:off x="661475" y="4185543"/>
            <a:ext cx="256216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“LUMOS, remind me to call Dad at 8." Reminders, information, music, and everyday assistance for the whole household.</a:t>
            </a:r>
            <a:endParaRPr lang="en-US" sz="1300" dirty="0"/>
          </a:p>
        </p:txBody>
      </p:sp>
      <p:pic>
        <p:nvPicPr>
          <p:cNvPr id="7" name="Image 1" descr="preencoded.png"/>
          <p:cNvPicPr>
            <a:picLocks noChangeAspect="1"/>
          </p:cNvPicPr>
          <p:nvPr/>
        </p:nvPicPr>
        <p:blipFill>
          <a:blip r:embed="rId4"/>
          <a:stretch>
            <a:fillRect/>
          </a:stretch>
        </p:blipFill>
        <p:spPr>
          <a:xfrm>
            <a:off x="3430303" y="2918123"/>
            <a:ext cx="1127295" cy="696714"/>
          </a:xfrm>
          <a:prstGeom prst="rect">
            <a:avLst/>
          </a:prstGeom>
        </p:spPr>
      </p:pic>
      <p:sp>
        <p:nvSpPr>
          <p:cNvPr id="8" name="Text 4"/>
          <p:cNvSpPr/>
          <p:nvPr/>
        </p:nvSpPr>
        <p:spPr>
          <a:xfrm>
            <a:off x="3430303" y="3821509"/>
            <a:ext cx="2562161" cy="26481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Noto Color Emoji" pitchFamily="34" charset="0"/>
                <a:ea typeface="Noto Color Emoji" pitchFamily="34" charset="-122"/>
                <a:cs typeface="Noto Color Emoji" pitchFamily="34" charset="-120"/>
              </a:rPr>
              <a:t>🎓</a:t>
            </a:r>
            <a:r>
              <a:rPr lang="en-US" sz="1600" b="1" dirty="0">
                <a:solidFill>
                  <a:srgbClr val="333F70"/>
                </a:solidFill>
                <a:latin typeface="Unbounded Bold" pitchFamily="34" charset="0"/>
                <a:ea typeface="Unbounded Bold" pitchFamily="34" charset="-122"/>
                <a:cs typeface="Unbounded Bold" pitchFamily="34" charset="-120"/>
              </a:rPr>
              <a:t> Students</a:t>
            </a:r>
            <a:endParaRPr lang="en-US" sz="1600" dirty="0"/>
          </a:p>
        </p:txBody>
      </p:sp>
      <p:sp>
        <p:nvSpPr>
          <p:cNvPr id="9" name="Text 5"/>
          <p:cNvSpPr/>
          <p:nvPr/>
        </p:nvSpPr>
        <p:spPr>
          <a:xfrm>
            <a:off x="3430303" y="4185543"/>
            <a:ext cx="256216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“LUMOS, explain this concept." Research, questions, reminders, coding help, and productivity support.</a:t>
            </a:r>
            <a:endParaRPr lang="en-US" sz="1300" dirty="0"/>
          </a:p>
        </p:txBody>
      </p:sp>
      <p:pic>
        <p:nvPicPr>
          <p:cNvPr id="10" name="Image 2" descr="preencoded.png"/>
          <p:cNvPicPr>
            <a:picLocks noChangeAspect="1"/>
          </p:cNvPicPr>
          <p:nvPr/>
        </p:nvPicPr>
        <p:blipFill>
          <a:blip r:embed="rId5"/>
          <a:stretch>
            <a:fillRect/>
          </a:stretch>
        </p:blipFill>
        <p:spPr>
          <a:xfrm>
            <a:off x="6199132" y="2918123"/>
            <a:ext cx="1127295" cy="696714"/>
          </a:xfrm>
          <a:prstGeom prst="rect">
            <a:avLst/>
          </a:prstGeom>
        </p:spPr>
      </p:pic>
      <p:sp>
        <p:nvSpPr>
          <p:cNvPr id="11" name="Text 6"/>
          <p:cNvSpPr/>
          <p:nvPr/>
        </p:nvSpPr>
        <p:spPr>
          <a:xfrm>
            <a:off x="6199132" y="3821509"/>
            <a:ext cx="2562161" cy="52328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000000"/>
                </a:solidFill>
                <a:latin typeface="Noto Color Emoji" pitchFamily="34" charset="0"/>
                <a:ea typeface="Noto Color Emoji" pitchFamily="34" charset="-122"/>
                <a:cs typeface="Noto Color Emoji" pitchFamily="34" charset="-120"/>
              </a:rPr>
              <a:t>💻</a:t>
            </a:r>
            <a:r>
              <a:rPr lang="en-US" sz="1600" b="1" dirty="0">
                <a:solidFill>
                  <a:srgbClr val="333F70"/>
                </a:solidFill>
                <a:latin typeface="Unbounded Bold" pitchFamily="34" charset="0"/>
                <a:ea typeface="Unbounded Bold" pitchFamily="34" charset="-122"/>
                <a:cs typeface="Unbounded Bold" pitchFamily="34" charset="-120"/>
              </a:rPr>
              <a:t> Developers &amp; Makers</a:t>
            </a:r>
            <a:endParaRPr lang="en-US" sz="1600" dirty="0"/>
          </a:p>
        </p:txBody>
      </p:sp>
      <p:sp>
        <p:nvSpPr>
          <p:cNvPr id="12" name="Text 7"/>
          <p:cNvSpPr/>
          <p:nvPr/>
        </p:nvSpPr>
        <p:spPr>
          <a:xfrm>
            <a:off x="6199132" y="4444008"/>
            <a:ext cx="256216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“LUMOS clone this GitHub repository." GitHub, files, Python, and development workflows — hands-free.</a:t>
            </a:r>
            <a:endParaRPr lang="en-US" sz="1300" dirty="0"/>
          </a:p>
        </p:txBody>
      </p:sp>
      <p:pic>
        <p:nvPicPr>
          <p:cNvPr id="13" name="Image 3" descr="preencoded.png"/>
          <p:cNvPicPr>
            <a:picLocks noChangeAspect="1"/>
          </p:cNvPicPr>
          <p:nvPr/>
        </p:nvPicPr>
        <p:blipFill>
          <a:blip r:embed="rId6"/>
          <a:stretch>
            <a:fillRect/>
          </a:stretch>
        </p:blipFill>
        <p:spPr>
          <a:xfrm>
            <a:off x="8967960" y="2918123"/>
            <a:ext cx="1127394" cy="696714"/>
          </a:xfrm>
          <a:prstGeom prst="rect">
            <a:avLst/>
          </a:prstGeom>
        </p:spPr>
      </p:pic>
      <p:sp>
        <p:nvSpPr>
          <p:cNvPr id="14" name="Text 8"/>
          <p:cNvSpPr/>
          <p:nvPr/>
        </p:nvSpPr>
        <p:spPr>
          <a:xfrm>
            <a:off x="8967960" y="3821509"/>
            <a:ext cx="2562260" cy="26481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Noto Color Emoji" pitchFamily="34" charset="0"/>
                <a:ea typeface="Noto Color Emoji" pitchFamily="34" charset="-122"/>
                <a:cs typeface="Noto Color Emoji" pitchFamily="34" charset="-120"/>
              </a:rPr>
              <a:t>🎨</a:t>
            </a:r>
            <a:r>
              <a:rPr lang="en-US" sz="1600" b="1" dirty="0">
                <a:solidFill>
                  <a:srgbClr val="333F70"/>
                </a:solidFill>
                <a:latin typeface="Unbounded Bold" pitchFamily="34" charset="0"/>
                <a:ea typeface="Unbounded Bold" pitchFamily="34" charset="-122"/>
                <a:cs typeface="Unbounded Bold" pitchFamily="34" charset="-120"/>
              </a:rPr>
              <a:t> Creators</a:t>
            </a:r>
            <a:endParaRPr lang="en-US" sz="1600" dirty="0"/>
          </a:p>
        </p:txBody>
      </p:sp>
      <p:sp>
        <p:nvSpPr>
          <p:cNvPr id="15" name="Text 9"/>
          <p:cNvSpPr/>
          <p:nvPr/>
        </p:nvSpPr>
        <p:spPr>
          <a:xfrm>
            <a:off x="8967960" y="4185543"/>
            <a:ext cx="25622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“LUMOS, generate an image for my project." Image generation, AI music, and content creation on demand.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D6F5EE"/>
          </a:solidFill>
          <a:ln/>
        </p:spPr>
      </p:sp>
      <p:pic>
        <p:nvPicPr>
          <p:cNvPr id="3" name="Image 0" descr="preencoded.png"/>
          <p:cNvPicPr>
            <a:picLocks noChangeAspect="1"/>
          </p:cNvPicPr>
          <p:nvPr/>
        </p:nvPicPr>
        <p:blipFill>
          <a:blip r:embed="rId3"/>
          <a:stretch>
            <a:fillRect/>
          </a:stretch>
        </p:blipFill>
        <p:spPr>
          <a:xfrm>
            <a:off x="58141" y="458490"/>
            <a:ext cx="4455505" cy="5940921"/>
          </a:xfrm>
          <a:prstGeom prst="rect">
            <a:avLst/>
          </a:prstGeom>
        </p:spPr>
      </p:pic>
      <p:sp>
        <p:nvSpPr>
          <p:cNvPr id="4" name="Text 1"/>
          <p:cNvSpPr/>
          <p:nvPr/>
        </p:nvSpPr>
        <p:spPr>
          <a:xfrm>
            <a:off x="5233360" y="574675"/>
            <a:ext cx="6296860" cy="726678"/>
          </a:xfrm>
          <a:prstGeom prst="rect">
            <a:avLst/>
          </a:prstGeom>
          <a:noFill/>
          <a:ln/>
        </p:spPr>
        <p:txBody>
          <a:bodyPr wrap="square" lIns="0" tIns="0" rIns="0" bIns="0" rtlCol="0" anchor="t">
            <a:normAutofit/>
          </a:bodyPr>
          <a:lstStyle/>
          <a:p>
            <a:pPr marL="0" indent="0" algn="l">
              <a:lnSpc>
                <a:spcPct val="104000"/>
              </a:lnSpc>
              <a:buNone/>
            </a:pPr>
            <a:r>
              <a:rPr lang="en-US" sz="2250" b="1" dirty="0">
                <a:solidFill>
                  <a:srgbClr val="333F70"/>
                </a:solidFill>
                <a:latin typeface="Unbounded Bold" pitchFamily="34" charset="0"/>
                <a:ea typeface="Unbounded Bold" pitchFamily="34" charset="-122"/>
                <a:cs typeface="Unbounded Bold" pitchFamily="34" charset="-120"/>
              </a:rPr>
              <a:t>Turning a Smart Speaker Into a Personal AI System</a:t>
            </a:r>
            <a:endParaRPr lang="en-US" sz="2250" dirty="0"/>
          </a:p>
        </p:txBody>
      </p:sp>
      <p:sp>
        <p:nvSpPr>
          <p:cNvPr id="5" name="Text 2"/>
          <p:cNvSpPr/>
          <p:nvPr/>
        </p:nvSpPr>
        <p:spPr>
          <a:xfrm>
            <a:off x="5233360" y="1482130"/>
            <a:ext cx="6296860" cy="383778"/>
          </a:xfrm>
          <a:prstGeom prst="rect">
            <a:avLst/>
          </a:prstGeom>
          <a:noFill/>
          <a:ln/>
        </p:spPr>
        <p:txBody>
          <a:bodyPr wrap="none" lIns="0" tIns="0" rIns="0" bIns="0" rtlCol="0" anchor="t"/>
          <a:lstStyle/>
          <a:p>
            <a:pPr marL="0" indent="0" algn="ctr">
              <a:lnSpc>
                <a:spcPct val="83000"/>
              </a:lnSpc>
              <a:buNone/>
            </a:pPr>
            <a:r>
              <a:rPr lang="en-US" sz="3000" b="1" dirty="0">
                <a:solidFill>
                  <a:srgbClr val="333F70"/>
                </a:solidFill>
                <a:latin typeface="Unbounded Bold" pitchFamily="34" charset="0"/>
                <a:ea typeface="Unbounded Bold" pitchFamily="34" charset="-122"/>
                <a:cs typeface="Unbounded Bold" pitchFamily="34" charset="-120"/>
              </a:rPr>
              <a:t>1</a:t>
            </a:r>
            <a:endParaRPr lang="en-US" sz="3000" dirty="0"/>
          </a:p>
        </p:txBody>
      </p:sp>
      <p:sp>
        <p:nvSpPr>
          <p:cNvPr id="6" name="Text 3"/>
          <p:cNvSpPr/>
          <p:nvPr/>
        </p:nvSpPr>
        <p:spPr>
          <a:xfrm>
            <a:off x="5233360" y="1985367"/>
            <a:ext cx="6296860" cy="181670"/>
          </a:xfrm>
          <a:prstGeom prst="rect">
            <a:avLst/>
          </a:prstGeom>
          <a:noFill/>
          <a:ln/>
        </p:spPr>
        <p:txBody>
          <a:bodyPr wrap="none" lIns="0" tIns="0" rIns="0" bIns="0" rtlCol="0" anchor="t"/>
          <a:lstStyle/>
          <a:p>
            <a:pPr marL="0" indent="0" algn="ctr">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Device</a:t>
            </a:r>
            <a:endParaRPr lang="en-US" sz="1100" dirty="0"/>
          </a:p>
        </p:txBody>
      </p:sp>
      <p:sp>
        <p:nvSpPr>
          <p:cNvPr id="7" name="Text 4"/>
          <p:cNvSpPr/>
          <p:nvPr/>
        </p:nvSpPr>
        <p:spPr>
          <a:xfrm>
            <a:off x="5233360" y="2216051"/>
            <a:ext cx="6296860" cy="158353"/>
          </a:xfrm>
          <a:prstGeom prst="rect">
            <a:avLst/>
          </a:prstGeom>
          <a:noFill/>
          <a:ln/>
        </p:spPr>
        <p:txBody>
          <a:bodyPr wrap="none" lIns="0" tIns="0" rIns="0" bIns="0" rtlCol="0" anchor="t"/>
          <a:lstStyle/>
          <a:p>
            <a:pPr marL="0" indent="0" algn="ctr">
              <a:lnSpc>
                <a:spcPct val="114000"/>
              </a:lnSpc>
              <a:buNone/>
            </a:pPr>
            <a:r>
              <a:rPr lang="en-US" sz="900" dirty="0">
                <a:solidFill>
                  <a:srgbClr val="333F70"/>
                </a:solidFill>
                <a:latin typeface="Open Sans" pitchFamily="34" charset="0"/>
                <a:ea typeface="Open Sans" pitchFamily="34" charset="-122"/>
                <a:cs typeface="Open Sans" pitchFamily="34" charset="-120"/>
              </a:rPr>
              <a:t>One Raspberry Pi replaces multiple apps and screens for supported tasks.</a:t>
            </a:r>
            <a:endParaRPr lang="en-US" sz="900" dirty="0"/>
          </a:p>
        </p:txBody>
      </p:sp>
      <p:sp>
        <p:nvSpPr>
          <p:cNvPr id="8" name="Text 5"/>
          <p:cNvSpPr/>
          <p:nvPr/>
        </p:nvSpPr>
        <p:spPr>
          <a:xfrm>
            <a:off x="5233360" y="2596059"/>
            <a:ext cx="6296860" cy="383778"/>
          </a:xfrm>
          <a:prstGeom prst="rect">
            <a:avLst/>
          </a:prstGeom>
          <a:noFill/>
          <a:ln/>
        </p:spPr>
        <p:txBody>
          <a:bodyPr wrap="none" lIns="0" tIns="0" rIns="0" bIns="0" rtlCol="0" anchor="t"/>
          <a:lstStyle/>
          <a:p>
            <a:pPr marL="0" indent="0" algn="ctr">
              <a:lnSpc>
                <a:spcPct val="83000"/>
              </a:lnSpc>
              <a:buNone/>
            </a:pPr>
            <a:r>
              <a:rPr lang="en-US" sz="3000" b="1" dirty="0">
                <a:solidFill>
                  <a:srgbClr val="333F70"/>
                </a:solidFill>
                <a:latin typeface="Unbounded Bold" pitchFamily="34" charset="0"/>
                <a:ea typeface="Unbounded Bold" pitchFamily="34" charset="-122"/>
                <a:cs typeface="Unbounded Bold" pitchFamily="34" charset="-120"/>
              </a:rPr>
              <a:t>10+</a:t>
            </a:r>
            <a:endParaRPr lang="en-US" sz="3000" dirty="0"/>
          </a:p>
        </p:txBody>
      </p:sp>
      <p:sp>
        <p:nvSpPr>
          <p:cNvPr id="9" name="Text 6"/>
          <p:cNvSpPr/>
          <p:nvPr/>
        </p:nvSpPr>
        <p:spPr>
          <a:xfrm>
            <a:off x="5233360" y="3099296"/>
            <a:ext cx="6296860" cy="181670"/>
          </a:xfrm>
          <a:prstGeom prst="rect">
            <a:avLst/>
          </a:prstGeom>
          <a:noFill/>
          <a:ln/>
        </p:spPr>
        <p:txBody>
          <a:bodyPr wrap="none" lIns="0" tIns="0" rIns="0" bIns="0" rtlCol="0" anchor="t"/>
          <a:lstStyle/>
          <a:p>
            <a:pPr marL="0" indent="0" algn="ctr">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Tool Categories</a:t>
            </a:r>
            <a:endParaRPr lang="en-US" sz="1100" dirty="0"/>
          </a:p>
        </p:txBody>
      </p:sp>
      <p:sp>
        <p:nvSpPr>
          <p:cNvPr id="10" name="Text 7"/>
          <p:cNvSpPr/>
          <p:nvPr/>
        </p:nvSpPr>
        <p:spPr>
          <a:xfrm>
            <a:off x="5233360" y="3329980"/>
            <a:ext cx="6296860" cy="158353"/>
          </a:xfrm>
          <a:prstGeom prst="rect">
            <a:avLst/>
          </a:prstGeom>
          <a:noFill/>
          <a:ln/>
        </p:spPr>
        <p:txBody>
          <a:bodyPr wrap="none" lIns="0" tIns="0" rIns="0" bIns="0" rtlCol="0" anchor="t"/>
          <a:lstStyle/>
          <a:p>
            <a:pPr marL="0" indent="0" algn="ctr">
              <a:lnSpc>
                <a:spcPct val="114000"/>
              </a:lnSpc>
              <a:buNone/>
            </a:pPr>
            <a:r>
              <a:rPr lang="en-US" sz="900" dirty="0">
                <a:solidFill>
                  <a:srgbClr val="333F70"/>
                </a:solidFill>
                <a:latin typeface="Open Sans" pitchFamily="34" charset="0"/>
                <a:ea typeface="Open Sans" pitchFamily="34" charset="-122"/>
                <a:cs typeface="Open Sans" pitchFamily="34" charset="-120"/>
              </a:rPr>
              <a:t>Music</a:t>
            </a:r>
            <a:r>
              <a:rPr lang="en-US" sz="900">
                <a:solidFill>
                  <a:srgbClr val="333F70"/>
                </a:solidFill>
                <a:latin typeface="Open Sans" pitchFamily="34" charset="0"/>
                <a:ea typeface="Open Sans" pitchFamily="34" charset="-122"/>
                <a:cs typeface="Open Sans" pitchFamily="34" charset="-120"/>
              </a:rPr>
              <a:t>, memory</a:t>
            </a:r>
            <a:r>
              <a:rPr lang="en-US" sz="900" dirty="0">
                <a:solidFill>
                  <a:srgbClr val="333F70"/>
                </a:solidFill>
                <a:latin typeface="Open Sans" pitchFamily="34" charset="0"/>
                <a:ea typeface="Open Sans" pitchFamily="34" charset="-122"/>
                <a:cs typeface="Open Sans" pitchFamily="34" charset="-120"/>
              </a:rPr>
              <a:t>, files, GitHub, Python, web, YouTube, images, automation, and more.</a:t>
            </a:r>
            <a:endParaRPr lang="en-US" sz="900" dirty="0"/>
          </a:p>
        </p:txBody>
      </p:sp>
      <p:sp>
        <p:nvSpPr>
          <p:cNvPr id="11" name="Text 8"/>
          <p:cNvSpPr/>
          <p:nvPr/>
        </p:nvSpPr>
        <p:spPr>
          <a:xfrm>
            <a:off x="5233360" y="3709987"/>
            <a:ext cx="6296860" cy="383778"/>
          </a:xfrm>
          <a:prstGeom prst="rect">
            <a:avLst/>
          </a:prstGeom>
          <a:noFill/>
          <a:ln/>
        </p:spPr>
        <p:txBody>
          <a:bodyPr wrap="none" lIns="0" tIns="0" rIns="0" bIns="0" rtlCol="0" anchor="t"/>
          <a:lstStyle/>
          <a:p>
            <a:pPr marL="0" indent="0" algn="ctr">
              <a:lnSpc>
                <a:spcPct val="83000"/>
              </a:lnSpc>
              <a:buNone/>
            </a:pPr>
            <a:r>
              <a:rPr lang="en-US" sz="3000" b="1" dirty="0">
                <a:solidFill>
                  <a:srgbClr val="333F70"/>
                </a:solidFill>
                <a:latin typeface="Unbounded Bold" pitchFamily="34" charset="0"/>
                <a:ea typeface="Unbounded Bold" pitchFamily="34" charset="-122"/>
                <a:cs typeface="Unbounded Bold" pitchFamily="34" charset="-120"/>
              </a:rPr>
              <a:t>3</a:t>
            </a:r>
            <a:endParaRPr lang="en-US" sz="3000" dirty="0"/>
          </a:p>
        </p:txBody>
      </p:sp>
      <p:sp>
        <p:nvSpPr>
          <p:cNvPr id="12" name="Text 9"/>
          <p:cNvSpPr/>
          <p:nvPr/>
        </p:nvSpPr>
        <p:spPr>
          <a:xfrm>
            <a:off x="5233360" y="4213225"/>
            <a:ext cx="6296860" cy="181670"/>
          </a:xfrm>
          <a:prstGeom prst="rect">
            <a:avLst/>
          </a:prstGeom>
          <a:noFill/>
          <a:ln/>
        </p:spPr>
        <p:txBody>
          <a:bodyPr wrap="none" lIns="0" tIns="0" rIns="0" bIns="0" rtlCol="0" anchor="t"/>
          <a:lstStyle/>
          <a:p>
            <a:pPr marL="0" indent="0" algn="ctr">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AI Backends</a:t>
            </a:r>
            <a:endParaRPr lang="en-US" sz="1100" dirty="0"/>
          </a:p>
        </p:txBody>
      </p:sp>
      <p:sp>
        <p:nvSpPr>
          <p:cNvPr id="13" name="Text 10"/>
          <p:cNvSpPr/>
          <p:nvPr/>
        </p:nvSpPr>
        <p:spPr>
          <a:xfrm>
            <a:off x="5233360" y="4443909"/>
            <a:ext cx="6296860" cy="158353"/>
          </a:xfrm>
          <a:prstGeom prst="rect">
            <a:avLst/>
          </a:prstGeom>
          <a:noFill/>
          <a:ln/>
        </p:spPr>
        <p:txBody>
          <a:bodyPr wrap="none" lIns="0" tIns="0" rIns="0" bIns="0" rtlCol="0" anchor="t"/>
          <a:lstStyle/>
          <a:p>
            <a:pPr marL="0" indent="0" algn="ctr">
              <a:lnSpc>
                <a:spcPct val="114000"/>
              </a:lnSpc>
              <a:buNone/>
            </a:pPr>
            <a:r>
              <a:rPr lang="en-US" sz="900" dirty="0">
                <a:solidFill>
                  <a:srgbClr val="333F70"/>
                </a:solidFill>
                <a:latin typeface="Open Sans" pitchFamily="34" charset="0"/>
                <a:ea typeface="Open Sans" pitchFamily="34" charset="-122"/>
                <a:cs typeface="Open Sans" pitchFamily="34" charset="-120"/>
              </a:rPr>
              <a:t>OpenRouter, Groq, and Chute — switch models without changing hardware.</a:t>
            </a:r>
            <a:endParaRPr lang="en-US" sz="900" dirty="0"/>
          </a:p>
        </p:txBody>
      </p:sp>
      <p:sp>
        <p:nvSpPr>
          <p:cNvPr id="14" name="Text 11"/>
          <p:cNvSpPr/>
          <p:nvPr/>
        </p:nvSpPr>
        <p:spPr>
          <a:xfrm>
            <a:off x="5233360" y="4823916"/>
            <a:ext cx="6296860" cy="383778"/>
          </a:xfrm>
          <a:prstGeom prst="rect">
            <a:avLst/>
          </a:prstGeom>
          <a:noFill/>
          <a:ln/>
        </p:spPr>
        <p:txBody>
          <a:bodyPr wrap="none" lIns="0" tIns="0" rIns="0" bIns="0" rtlCol="0" anchor="t"/>
          <a:lstStyle/>
          <a:p>
            <a:pPr marL="0" indent="0" algn="ctr">
              <a:lnSpc>
                <a:spcPct val="83000"/>
              </a:lnSpc>
              <a:buNone/>
            </a:pPr>
            <a:r>
              <a:rPr lang="en-US" sz="3000" b="1" dirty="0">
                <a:solidFill>
                  <a:srgbClr val="333F70"/>
                </a:solidFill>
                <a:latin typeface="Unbounded Bold" pitchFamily="34" charset="0"/>
                <a:ea typeface="Unbounded Bold" pitchFamily="34" charset="-122"/>
                <a:cs typeface="Unbounded Bold" pitchFamily="34" charset="-120"/>
              </a:rPr>
              <a:t>0</a:t>
            </a:r>
            <a:endParaRPr lang="en-US" sz="3000" dirty="0"/>
          </a:p>
        </p:txBody>
      </p:sp>
      <p:sp>
        <p:nvSpPr>
          <p:cNvPr id="15" name="Text 12"/>
          <p:cNvSpPr/>
          <p:nvPr/>
        </p:nvSpPr>
        <p:spPr>
          <a:xfrm>
            <a:off x="5233360" y="5327154"/>
            <a:ext cx="6296860" cy="181670"/>
          </a:xfrm>
          <a:prstGeom prst="rect">
            <a:avLst/>
          </a:prstGeom>
          <a:noFill/>
          <a:ln/>
        </p:spPr>
        <p:txBody>
          <a:bodyPr wrap="none" lIns="0" tIns="0" rIns="0" bIns="0" rtlCol="0" anchor="t"/>
          <a:lstStyle/>
          <a:p>
            <a:pPr marL="0" indent="0" algn="ctr">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Ecosystem Lock-in</a:t>
            </a:r>
            <a:endParaRPr lang="en-US" sz="1100" dirty="0"/>
          </a:p>
        </p:txBody>
      </p:sp>
      <p:sp>
        <p:nvSpPr>
          <p:cNvPr id="16" name="Text 13"/>
          <p:cNvSpPr/>
          <p:nvPr/>
        </p:nvSpPr>
        <p:spPr>
          <a:xfrm>
            <a:off x="5233360" y="5557838"/>
            <a:ext cx="6296860" cy="158353"/>
          </a:xfrm>
          <a:prstGeom prst="rect">
            <a:avLst/>
          </a:prstGeom>
          <a:noFill/>
          <a:ln/>
        </p:spPr>
        <p:txBody>
          <a:bodyPr wrap="none" lIns="0" tIns="0" rIns="0" bIns="0" rtlCol="0" anchor="t"/>
          <a:lstStyle/>
          <a:p>
            <a:pPr marL="0" indent="0" algn="ctr">
              <a:lnSpc>
                <a:spcPct val="114000"/>
              </a:lnSpc>
              <a:buNone/>
            </a:pPr>
            <a:r>
              <a:rPr lang="en-US" sz="900" dirty="0">
                <a:solidFill>
                  <a:srgbClr val="333F70"/>
                </a:solidFill>
                <a:latin typeface="Open Sans" pitchFamily="34" charset="0"/>
                <a:ea typeface="Open Sans" pitchFamily="34" charset="-122"/>
                <a:cs typeface="Open Sans" pitchFamily="34" charset="-120"/>
              </a:rPr>
              <a:t>Built from open software components that can be changed and extended.</a:t>
            </a:r>
            <a:endParaRPr lang="en-US" sz="900" dirty="0"/>
          </a:p>
        </p:txBody>
      </p:sp>
      <p:sp>
        <p:nvSpPr>
          <p:cNvPr id="17" name="Text 14"/>
          <p:cNvSpPr/>
          <p:nvPr/>
        </p:nvSpPr>
        <p:spPr>
          <a:xfrm>
            <a:off x="5233360" y="5808166"/>
            <a:ext cx="6296860" cy="475059"/>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333F70"/>
                </a:solidFill>
                <a:latin typeface="Open Sans" pitchFamily="34" charset="0"/>
                <a:ea typeface="Open Sans" pitchFamily="34" charset="-122"/>
                <a:cs typeface="Open Sans" pitchFamily="34" charset="-120"/>
              </a:rPr>
              <a:t>LUMOS moves the smart-home experience from </a:t>
            </a:r>
            <a:r>
              <a:rPr lang="en-US" sz="900" b="1" dirty="0">
                <a:solidFill>
                  <a:srgbClr val="333F70"/>
                </a:solidFill>
                <a:latin typeface="Open Sans Bold" pitchFamily="34" charset="0"/>
                <a:ea typeface="Open Sans Bold" pitchFamily="34" charset="-122"/>
                <a:cs typeface="Open Sans Bold" pitchFamily="34" charset="-120"/>
              </a:rPr>
              <a:t>Command → Response</a:t>
            </a:r>
            <a:r>
              <a:rPr lang="en-US" sz="900" dirty="0">
                <a:solidFill>
                  <a:srgbClr val="333F70"/>
                </a:solidFill>
                <a:latin typeface="Open Sans" pitchFamily="34" charset="0"/>
                <a:ea typeface="Open Sans" pitchFamily="34" charset="-122"/>
                <a:cs typeface="Open Sans" pitchFamily="34" charset="-120"/>
              </a:rPr>
              <a:t> toward </a:t>
            </a:r>
            <a:r>
              <a:rPr lang="en-US" sz="900" b="1" dirty="0">
                <a:solidFill>
                  <a:srgbClr val="333F70"/>
                </a:solidFill>
                <a:latin typeface="Open Sans Bold" pitchFamily="34" charset="0"/>
                <a:ea typeface="Open Sans Bold" pitchFamily="34" charset="-122"/>
                <a:cs typeface="Open Sans Bold" pitchFamily="34" charset="-120"/>
              </a:rPr>
              <a:t>Intent → Reasoning → Action</a:t>
            </a:r>
            <a:r>
              <a:rPr lang="en-US" sz="900" dirty="0">
                <a:solidFill>
                  <a:srgbClr val="333F70"/>
                </a:solidFill>
                <a:latin typeface="Open Sans" pitchFamily="34" charset="0"/>
                <a:ea typeface="Open Sans" pitchFamily="34" charset="-122"/>
                <a:cs typeface="Open Sans" pitchFamily="34" charset="-120"/>
              </a:rPr>
              <a:t>. Productivity improves because users describe tasks naturally. Accessibility increases through voice-first interaction. And the platform evolves — new AI models, tools, and integrations — without redesigning the physical product.</a:t>
            </a:r>
            <a:endParaRPr lang="en-US" sz="900" dirty="0"/>
          </a:p>
        </p:txBody>
      </p:sp>
      <p:sp>
        <p:nvSpPr>
          <p:cNvPr id="19" name="5-Point Star 18"/>
          <p:cNvSpPr/>
          <p:nvPr/>
        </p:nvSpPr>
        <p:spPr>
          <a:xfrm>
            <a:off x="11530220" y="100509"/>
            <a:ext cx="417250" cy="38377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13EAFCC-4B60-408D-9D5C-213DB4B2CA6A}"/>
              </a:ext>
            </a:extLst>
          </p:cNvPr>
          <p:cNvSpPr txBox="1"/>
          <p:nvPr/>
        </p:nvSpPr>
        <p:spPr>
          <a:xfrm>
            <a:off x="1" y="107577"/>
            <a:ext cx="4571886" cy="1200329"/>
          </a:xfrm>
          <a:prstGeom prst="rect">
            <a:avLst/>
          </a:prstGeom>
          <a:noFill/>
        </p:spPr>
        <p:txBody>
          <a:bodyPr wrap="square" rtlCol="0">
            <a:spAutoFit/>
          </a:bodyPr>
          <a:lstStyle/>
          <a:p>
            <a:r>
              <a:rPr lang="en-US" dirty="0"/>
              <a:t>Quantify expected benefits, time saved, cost reduction, environmental impact, lives improved, efficiency gained, SDG alignment, measurable outcomes.</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7250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From Prototype to Personal AI Platform</a:t>
            </a:r>
            <a:endParaRPr lang="en-US" sz="3250" dirty="0"/>
          </a:p>
        </p:txBody>
      </p:sp>
      <p:sp>
        <p:nvSpPr>
          <p:cNvPr id="3" name="Text 1"/>
          <p:cNvSpPr/>
          <p:nvPr/>
        </p:nvSpPr>
        <p:spPr>
          <a:xfrm>
            <a:off x="661475" y="1519932"/>
            <a:ext cx="11478330" cy="264616"/>
          </a:xfrm>
          <a:prstGeom prst="rect">
            <a:avLst/>
          </a:prstGeom>
          <a:noFill/>
          <a:ln/>
        </p:spPr>
        <p:txBody>
          <a:bodyPr wrap="none" lIns="0" tIns="0" rIns="0" bIns="0" rtlCol="0" anchor="t"/>
          <a:lstStyle/>
          <a:p>
            <a:pPr marL="0" indent="0" algn="l">
              <a:lnSpc>
                <a:spcPct val="133000"/>
              </a:lnSpc>
              <a:buNone/>
            </a:pPr>
            <a:r>
              <a:rPr lang="en-US" sz="1300">
                <a:solidFill>
                  <a:srgbClr val="333F70"/>
                </a:solidFill>
                <a:latin typeface="Open Sans" pitchFamily="34" charset="0"/>
                <a:ea typeface="Open Sans" pitchFamily="34" charset="-122"/>
                <a:cs typeface="Open Sans" pitchFamily="34" charset="-120"/>
              </a:rPr>
              <a:t>EMO's </a:t>
            </a:r>
            <a:r>
              <a:rPr lang="en-US" sz="1300" dirty="0">
                <a:solidFill>
                  <a:srgbClr val="333F70"/>
                </a:solidFill>
                <a:latin typeface="Open Sans" pitchFamily="34" charset="0"/>
                <a:ea typeface="Open Sans" pitchFamily="34" charset="-122"/>
                <a:cs typeface="Open Sans" pitchFamily="34" charset="-120"/>
              </a:rPr>
              <a:t>roadmap is structured in three clear phases, each building on the last — from a working prototype to a full personal AI platform.</a:t>
            </a:r>
            <a:endParaRPr lang="en-US" sz="1300" dirty="0"/>
          </a:p>
        </p:txBody>
      </p:sp>
      <p:pic>
        <p:nvPicPr>
          <p:cNvPr id="4" name="Image 0" descr="preencoded.png"/>
          <p:cNvPicPr>
            <a:picLocks noChangeAspect="1"/>
          </p:cNvPicPr>
          <p:nvPr/>
        </p:nvPicPr>
        <p:blipFill>
          <a:blip r:embed="rId3"/>
          <a:stretch>
            <a:fillRect/>
          </a:stretch>
        </p:blipFill>
        <p:spPr>
          <a:xfrm>
            <a:off x="661475" y="1970584"/>
            <a:ext cx="3622882" cy="661491"/>
          </a:xfrm>
          <a:prstGeom prst="rect">
            <a:avLst/>
          </a:prstGeom>
        </p:spPr>
      </p:pic>
      <p:sp>
        <p:nvSpPr>
          <p:cNvPr id="5" name="Text 2"/>
          <p:cNvSpPr/>
          <p:nvPr/>
        </p:nvSpPr>
        <p:spPr>
          <a:xfrm>
            <a:off x="826769" y="2797373"/>
            <a:ext cx="3292293"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Phase 1 — Prototype</a:t>
            </a:r>
            <a:endParaRPr lang="en-US" sz="1600" dirty="0"/>
          </a:p>
        </p:txBody>
      </p:sp>
      <p:sp>
        <p:nvSpPr>
          <p:cNvPr id="6" name="Text 3"/>
          <p:cNvSpPr/>
          <p:nvPr/>
        </p:nvSpPr>
        <p:spPr>
          <a:xfrm>
            <a:off x="826769" y="3155057"/>
            <a:ext cx="3292293" cy="80019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Raspberry Pi + microphone + Bluetooth speaker. Goal: reliable voice interaction and core AI capabilities. </a:t>
            </a:r>
            <a:r>
              <a:rPr lang="en-US" sz="1300" dirty="0">
                <a:solidFill>
                  <a:srgbClr val="000000"/>
                </a:solidFill>
                <a:latin typeface="Noto Color Emoji" pitchFamily="34" charset="0"/>
                <a:ea typeface="Noto Color Emoji" pitchFamily="34" charset="-122"/>
                <a:cs typeface="Noto Color Emoji" pitchFamily="34" charset="-120"/>
              </a:rPr>
              <a:t>✅</a:t>
            </a:r>
            <a:r>
              <a:rPr lang="en-US" sz="1300" b="1" dirty="0">
                <a:solidFill>
                  <a:srgbClr val="333F70"/>
                </a:solidFill>
                <a:latin typeface="Open Sans Bold" pitchFamily="34" charset="0"/>
                <a:ea typeface="Open Sans Bold" pitchFamily="34" charset="-122"/>
                <a:cs typeface="Open Sans Bold" pitchFamily="34" charset="-120"/>
              </a:rPr>
              <a:t> Complete</a:t>
            </a:r>
            <a:endParaRPr lang="en-US" sz="1300" dirty="0"/>
          </a:p>
        </p:txBody>
      </p:sp>
      <p:pic>
        <p:nvPicPr>
          <p:cNvPr id="7" name="Image 1" descr="preencoded.png"/>
          <p:cNvPicPr>
            <a:picLocks noChangeAspect="1"/>
          </p:cNvPicPr>
          <p:nvPr/>
        </p:nvPicPr>
        <p:blipFill>
          <a:blip r:embed="rId4"/>
          <a:stretch>
            <a:fillRect/>
          </a:stretch>
        </p:blipFill>
        <p:spPr>
          <a:xfrm>
            <a:off x="4284357" y="1970584"/>
            <a:ext cx="3622882" cy="661491"/>
          </a:xfrm>
          <a:prstGeom prst="rect">
            <a:avLst/>
          </a:prstGeom>
        </p:spPr>
      </p:pic>
      <p:sp>
        <p:nvSpPr>
          <p:cNvPr id="8" name="Text 4"/>
          <p:cNvSpPr/>
          <p:nvPr/>
        </p:nvSpPr>
        <p:spPr>
          <a:xfrm>
            <a:off x="4449651" y="2797373"/>
            <a:ext cx="3292293"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Phase 2 — Product</a:t>
            </a:r>
            <a:endParaRPr lang="en-US" sz="1600" dirty="0"/>
          </a:p>
        </p:txBody>
      </p:sp>
      <p:sp>
        <p:nvSpPr>
          <p:cNvPr id="9" name="Text 5"/>
          <p:cNvSpPr/>
          <p:nvPr/>
        </p:nvSpPr>
        <p:spPr>
          <a:xfrm>
            <a:off x="4449651" y="3155057"/>
            <a:ext cx="329229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Custom enclosure, improved microphone, better audio, simplified setup. Goal: </a:t>
            </a:r>
            <a:r>
              <a:rPr lang="en-US" sz="1300">
                <a:solidFill>
                  <a:srgbClr val="333F70"/>
                </a:solidFill>
                <a:latin typeface="Open Sans" pitchFamily="34" charset="0"/>
                <a:ea typeface="Open Sans" pitchFamily="34" charset="-122"/>
                <a:cs typeface="Open Sans" pitchFamily="34" charset="-120"/>
              </a:rPr>
              <a:t>make EMO </a:t>
            </a:r>
            <a:r>
              <a:rPr lang="en-US" sz="1300" dirty="0">
                <a:solidFill>
                  <a:srgbClr val="333F70"/>
                </a:solidFill>
                <a:latin typeface="Open Sans" pitchFamily="34" charset="0"/>
                <a:ea typeface="Open Sans" pitchFamily="34" charset="-122"/>
                <a:cs typeface="Open Sans" pitchFamily="34" charset="-120"/>
              </a:rPr>
              <a:t>usable as an everyday home device.</a:t>
            </a:r>
            <a:endParaRPr lang="en-US" sz="1300" dirty="0"/>
          </a:p>
        </p:txBody>
      </p:sp>
      <p:pic>
        <p:nvPicPr>
          <p:cNvPr id="10" name="Image 2" descr="preencoded.png"/>
          <p:cNvPicPr>
            <a:picLocks noChangeAspect="1"/>
          </p:cNvPicPr>
          <p:nvPr/>
        </p:nvPicPr>
        <p:blipFill>
          <a:blip r:embed="rId5"/>
          <a:stretch>
            <a:fillRect/>
          </a:stretch>
        </p:blipFill>
        <p:spPr>
          <a:xfrm>
            <a:off x="7907239" y="1970584"/>
            <a:ext cx="3622882" cy="661491"/>
          </a:xfrm>
          <a:prstGeom prst="rect">
            <a:avLst/>
          </a:prstGeom>
        </p:spPr>
      </p:pic>
      <p:sp>
        <p:nvSpPr>
          <p:cNvPr id="11" name="Text 6"/>
          <p:cNvSpPr/>
          <p:nvPr/>
        </p:nvSpPr>
        <p:spPr>
          <a:xfrm>
            <a:off x="8072533" y="2797373"/>
            <a:ext cx="3292293"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Phase 3 — Platform</a:t>
            </a:r>
            <a:endParaRPr lang="en-US" sz="1600" dirty="0"/>
          </a:p>
        </p:txBody>
      </p:sp>
      <p:sp>
        <p:nvSpPr>
          <p:cNvPr id="12" name="Text 7"/>
          <p:cNvSpPr/>
          <p:nvPr/>
        </p:nvSpPr>
        <p:spPr>
          <a:xfrm>
            <a:off x="8072533" y="3155057"/>
            <a:ext cx="329229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Smart-home integrations, sensors, local AI, user profiles, custom automations, and a developer tool ecosystem.</a:t>
            </a:r>
            <a:endParaRPr lang="en-US" sz="1300" dirty="0"/>
          </a:p>
        </p:txBody>
      </p:sp>
      <p:sp>
        <p:nvSpPr>
          <p:cNvPr id="13" name="Text 8"/>
          <p:cNvSpPr/>
          <p:nvPr/>
        </p:nvSpPr>
        <p:spPr>
          <a:xfrm>
            <a:off x="661475" y="4471888"/>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Possible Business Model</a:t>
            </a:r>
            <a:endParaRPr lang="en-US" sz="1600" dirty="0"/>
          </a:p>
        </p:txBody>
      </p:sp>
      <p:sp>
        <p:nvSpPr>
          <p:cNvPr id="14" name="Text 9"/>
          <p:cNvSpPr/>
          <p:nvPr/>
        </p:nvSpPr>
        <p:spPr>
          <a:xfrm>
            <a:off x="661475" y="4895652"/>
            <a:ext cx="5232666" cy="1231999"/>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b="1" dirty="0">
                <a:solidFill>
                  <a:srgbClr val="333F70"/>
                </a:solidFill>
                <a:latin typeface="Open Sans Bold" pitchFamily="34" charset="0"/>
                <a:ea typeface="Open Sans Bold" pitchFamily="34" charset="-122"/>
                <a:cs typeface="Open Sans Bold" pitchFamily="34" charset="-120"/>
              </a:rPr>
              <a:t>Hardware:</a:t>
            </a:r>
            <a:r>
              <a:rPr lang="en-US" sz="1300" dirty="0">
                <a:solidFill>
                  <a:srgbClr val="333F70"/>
                </a:solidFill>
                <a:latin typeface="Open Sans" pitchFamily="34" charset="0"/>
                <a:ea typeface="Open Sans" pitchFamily="34" charset="-122"/>
                <a:cs typeface="Open Sans" pitchFamily="34" charset="-120"/>
              </a:rPr>
              <a:t> Sell an </a:t>
            </a:r>
            <a:r>
              <a:rPr lang="en-US" sz="1300">
                <a:solidFill>
                  <a:srgbClr val="333F70"/>
                </a:solidFill>
                <a:latin typeface="Open Sans" pitchFamily="34" charset="0"/>
                <a:ea typeface="Open Sans" pitchFamily="34" charset="-122"/>
                <a:cs typeface="Open Sans" pitchFamily="34" charset="-120"/>
              </a:rPr>
              <a:t>affordable EMO </a:t>
            </a:r>
            <a:r>
              <a:rPr lang="en-US" sz="1300" dirty="0">
                <a:solidFill>
                  <a:srgbClr val="333F70"/>
                </a:solidFill>
                <a:latin typeface="Open Sans" pitchFamily="34" charset="0"/>
                <a:ea typeface="Open Sans" pitchFamily="34" charset="-122"/>
                <a:cs typeface="Open Sans" pitchFamily="34" charset="-120"/>
              </a:rPr>
              <a:t>device</a:t>
            </a:r>
            <a:endParaRPr lang="en-US" sz="1300" dirty="0"/>
          </a:p>
          <a:p>
            <a:pPr marL="264160" indent="-264160" algn="l">
              <a:lnSpc>
                <a:spcPct val="133000"/>
              </a:lnSpc>
              <a:buSzPct val="100000"/>
              <a:buChar char="•"/>
            </a:pPr>
            <a:r>
              <a:rPr lang="en-US" sz="1300" b="1" dirty="0">
                <a:solidFill>
                  <a:srgbClr val="333F70"/>
                </a:solidFill>
                <a:latin typeface="Open Sans Bold" pitchFamily="34" charset="0"/>
                <a:ea typeface="Open Sans Bold" pitchFamily="34" charset="-122"/>
                <a:cs typeface="Open Sans Bold" pitchFamily="34" charset="-120"/>
              </a:rPr>
              <a:t>Software:</a:t>
            </a:r>
            <a:r>
              <a:rPr lang="en-US" sz="1300" dirty="0">
                <a:solidFill>
                  <a:srgbClr val="333F70"/>
                </a:solidFill>
                <a:latin typeface="Open Sans" pitchFamily="34" charset="0"/>
                <a:ea typeface="Open Sans" pitchFamily="34" charset="-122"/>
                <a:cs typeface="Open Sans" pitchFamily="34" charset="-120"/>
              </a:rPr>
              <a:t> Optional premium AI/model features</a:t>
            </a:r>
            <a:endParaRPr lang="en-US" sz="1300" dirty="0"/>
          </a:p>
          <a:p>
            <a:pPr marL="264160" indent="-264160" algn="l">
              <a:lnSpc>
                <a:spcPct val="133000"/>
              </a:lnSpc>
              <a:buSzPct val="100000"/>
              <a:buChar char="•"/>
            </a:pPr>
            <a:r>
              <a:rPr lang="en-US" sz="1300" b="1" dirty="0">
                <a:solidFill>
                  <a:srgbClr val="333F70"/>
                </a:solidFill>
                <a:latin typeface="Open Sans Bold" pitchFamily="34" charset="0"/>
                <a:ea typeface="Open Sans Bold" pitchFamily="34" charset="-122"/>
                <a:cs typeface="Open Sans Bold" pitchFamily="34" charset="-120"/>
              </a:rPr>
              <a:t>Integrations:</a:t>
            </a:r>
            <a:r>
              <a:rPr lang="en-US" sz="1300" dirty="0">
                <a:solidFill>
                  <a:srgbClr val="333F70"/>
                </a:solidFill>
                <a:latin typeface="Open Sans" pitchFamily="34" charset="0"/>
                <a:ea typeface="Open Sans" pitchFamily="34" charset="-122"/>
                <a:cs typeface="Open Sans" pitchFamily="34" charset="-120"/>
              </a:rPr>
              <a:t> Home automation and specialized deployments</a:t>
            </a:r>
            <a:endParaRPr lang="en-US" sz="1300" dirty="0"/>
          </a:p>
          <a:p>
            <a:pPr marL="264160" indent="-264160" algn="l">
              <a:lnSpc>
                <a:spcPct val="133000"/>
              </a:lnSpc>
              <a:buSzPct val="100000"/>
              <a:buChar char="•"/>
            </a:pPr>
            <a:r>
              <a:rPr lang="en-US" sz="1300" b="1" dirty="0">
                <a:solidFill>
                  <a:srgbClr val="333F70"/>
                </a:solidFill>
                <a:latin typeface="Open Sans Bold" pitchFamily="34" charset="0"/>
                <a:ea typeface="Open Sans Bold" pitchFamily="34" charset="-122"/>
                <a:cs typeface="Open Sans Bold" pitchFamily="34" charset="-120"/>
              </a:rPr>
              <a:t>Developer Platform:</a:t>
            </a:r>
            <a:r>
              <a:rPr lang="en-US" sz="1300" dirty="0">
                <a:solidFill>
                  <a:srgbClr val="333F70"/>
                </a:solidFill>
                <a:latin typeface="Open Sans" pitchFamily="34" charset="0"/>
                <a:ea typeface="Open Sans" pitchFamily="34" charset="-122"/>
                <a:cs typeface="Open Sans" pitchFamily="34" charset="-120"/>
              </a:rPr>
              <a:t> Users create and add their </a:t>
            </a:r>
            <a:r>
              <a:rPr lang="en-US" sz="1300">
                <a:solidFill>
                  <a:srgbClr val="333F70"/>
                </a:solidFill>
                <a:latin typeface="Open Sans" pitchFamily="34" charset="0"/>
                <a:ea typeface="Open Sans" pitchFamily="34" charset="-122"/>
                <a:cs typeface="Open Sans" pitchFamily="34" charset="-120"/>
              </a:rPr>
              <a:t>own EMO </a:t>
            </a:r>
            <a:r>
              <a:rPr lang="en-US" sz="1300" dirty="0">
                <a:solidFill>
                  <a:srgbClr val="333F70"/>
                </a:solidFill>
                <a:latin typeface="Open Sans" pitchFamily="34" charset="0"/>
                <a:ea typeface="Open Sans" pitchFamily="34" charset="-122"/>
                <a:cs typeface="Open Sans" pitchFamily="34" charset="-120"/>
              </a:rPr>
              <a:t>tools</a:t>
            </a:r>
            <a:endParaRPr lang="en-US" sz="1300" dirty="0"/>
          </a:p>
        </p:txBody>
      </p:sp>
      <p:sp>
        <p:nvSpPr>
          <p:cNvPr id="15" name="Shape 10"/>
          <p:cNvSpPr/>
          <p:nvPr/>
        </p:nvSpPr>
        <p:spPr>
          <a:xfrm>
            <a:off x="6184844" y="4306590"/>
            <a:ext cx="5470785" cy="1878905"/>
          </a:xfrm>
          <a:prstGeom prst="roundRect">
            <a:avLst>
              <a:gd name="adj" fmla="val 6338"/>
            </a:avLst>
          </a:prstGeom>
          <a:solidFill>
            <a:srgbClr val="26A688"/>
          </a:solidFill>
          <a:ln/>
        </p:spPr>
      </p:sp>
      <p:sp>
        <p:nvSpPr>
          <p:cNvPr id="16" name="Text 11"/>
          <p:cNvSpPr/>
          <p:nvPr/>
        </p:nvSpPr>
        <p:spPr>
          <a:xfrm>
            <a:off x="6350139" y="4471888"/>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Unbounded Bold" pitchFamily="34" charset="0"/>
                <a:ea typeface="Unbounded Bold" pitchFamily="34" charset="-122"/>
                <a:cs typeface="Unbounded Bold" pitchFamily="34" charset="-120"/>
              </a:rPr>
              <a:t>Scalability</a:t>
            </a:r>
            <a:endParaRPr lang="en-US" sz="1600" dirty="0"/>
          </a:p>
        </p:txBody>
      </p:sp>
      <p:sp>
        <p:nvSpPr>
          <p:cNvPr id="17" name="Text 12"/>
          <p:cNvSpPr/>
          <p:nvPr/>
        </p:nvSpPr>
        <p:spPr>
          <a:xfrm>
            <a:off x="6350139" y="4895652"/>
            <a:ext cx="5140196" cy="1058466"/>
          </a:xfrm>
          <a:prstGeom prst="rect">
            <a:avLst/>
          </a:prstGeom>
          <a:noFill/>
          <a:ln/>
        </p:spPr>
        <p:txBody>
          <a:bodyPr wrap="square" lIns="0" tIns="0" rIns="0" bIns="0" rtlCol="0" anchor="t">
            <a:normAutofit/>
          </a:bodyPr>
          <a:lstStyle/>
          <a:p>
            <a:pPr marL="0" indent="0" algn="l">
              <a:lnSpc>
                <a:spcPct val="133000"/>
              </a:lnSpc>
              <a:buNone/>
            </a:pPr>
            <a:r>
              <a:rPr lang="en-US" sz="1300">
                <a:solidFill>
                  <a:srgbClr val="000000"/>
                </a:solidFill>
                <a:latin typeface="Open Sans" pitchFamily="34" charset="0"/>
                <a:ea typeface="Open Sans" pitchFamily="34" charset="-122"/>
                <a:cs typeface="Open Sans" pitchFamily="34" charset="-120"/>
              </a:rPr>
              <a:t>EMO's </a:t>
            </a:r>
            <a:r>
              <a:rPr lang="en-US" sz="1300" dirty="0">
                <a:solidFill>
                  <a:srgbClr val="000000"/>
                </a:solidFill>
                <a:latin typeface="Open Sans" pitchFamily="34" charset="0"/>
                <a:ea typeface="Open Sans" pitchFamily="34" charset="-122"/>
                <a:cs typeface="Open Sans" pitchFamily="34" charset="-120"/>
              </a:rPr>
              <a:t>architecture scales through software — more models, more tools, more APIs, more devices, and eventually full smart-home automation. The same software concept can move to more powerful Raspberry Pi hardware or custom hardware over time.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79524"/>
            <a:ext cx="10868745" cy="968970"/>
          </a:xfrm>
          <a:prstGeom prst="rect">
            <a:avLst/>
          </a:prstGeom>
          <a:noFill/>
          <a:ln/>
        </p:spPr>
        <p:txBody>
          <a:bodyPr wrap="square" lIns="0" tIns="0" rIns="0" bIns="0" rtlCol="0" anchor="t">
            <a:normAutofit/>
          </a:bodyPr>
          <a:lstStyle/>
          <a:p>
            <a:pPr marL="0" indent="0" algn="l">
              <a:lnSpc>
                <a:spcPct val="104000"/>
              </a:lnSpc>
              <a:buNone/>
            </a:pPr>
            <a:r>
              <a:rPr lang="en-US" sz="3050" b="1" dirty="0">
                <a:solidFill>
                  <a:srgbClr val="333F70"/>
                </a:solidFill>
                <a:latin typeface="Unbounded Bold" pitchFamily="34" charset="0"/>
                <a:ea typeface="Unbounded Bold" pitchFamily="34" charset="-122"/>
                <a:cs typeface="Unbounded Bold" pitchFamily="34" charset="-120"/>
              </a:rPr>
              <a:t>The Future of Home Assistants Isn't More Commands</a:t>
            </a:r>
            <a:endParaRPr lang="en-US" sz="3050" dirty="0"/>
          </a:p>
        </p:txBody>
      </p:sp>
      <p:sp>
        <p:nvSpPr>
          <p:cNvPr id="3" name="Text 1"/>
          <p:cNvSpPr/>
          <p:nvPr/>
        </p:nvSpPr>
        <p:spPr>
          <a:xfrm>
            <a:off x="661475" y="1739205"/>
            <a:ext cx="10868745"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Alexa helped introduce millions of people to talking to computers. The next step is different. An assistant shouldn't just recognize what you said — it should understand what you mean, know which tools it needs, and actually do the work.</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383334"/>
            <a:ext cx="5361647" cy="1158081"/>
          </a:xfrm>
          <a:prstGeom prst="rect">
            <a:avLst/>
          </a:prstGeom>
        </p:spPr>
      </p:pic>
      <p:sp>
        <p:nvSpPr>
          <p:cNvPr id="5" name="Text 2"/>
          <p:cNvSpPr/>
          <p:nvPr/>
        </p:nvSpPr>
        <p:spPr>
          <a:xfrm>
            <a:off x="911698" y="2557363"/>
            <a:ext cx="4937398"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Technical Feasibility</a:t>
            </a:r>
            <a:endParaRPr lang="en-US" sz="1500" dirty="0"/>
          </a:p>
        </p:txBody>
      </p:sp>
      <p:sp>
        <p:nvSpPr>
          <p:cNvPr id="6" name="Text 3"/>
          <p:cNvSpPr/>
          <p:nvPr/>
        </p:nvSpPr>
        <p:spPr>
          <a:xfrm>
            <a:off x="911698" y="2886770"/>
            <a:ext cx="4937398"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d</a:t>
            </a:r>
            <a:endParaRPr lang="en-US" sz="12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8474" y="2383334"/>
            <a:ext cx="5361746" cy="1158081"/>
          </a:xfrm>
          <a:prstGeom prst="rect">
            <a:avLst/>
          </a:prstGeom>
        </p:spPr>
      </p:pic>
      <p:sp>
        <p:nvSpPr>
          <p:cNvPr id="8" name="Text 4"/>
          <p:cNvSpPr/>
          <p:nvPr/>
        </p:nvSpPr>
        <p:spPr>
          <a:xfrm>
            <a:off x="6418697" y="2557363"/>
            <a:ext cx="4937498"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Operational Requirements </a:t>
            </a:r>
            <a:endParaRPr lang="en-US" sz="1500" dirty="0"/>
          </a:p>
        </p:txBody>
      </p:sp>
      <p:sp>
        <p:nvSpPr>
          <p:cNvPr id="9" name="Text 5"/>
          <p:cNvSpPr/>
          <p:nvPr/>
        </p:nvSpPr>
        <p:spPr>
          <a:xfrm>
            <a:off x="6418697" y="2886770"/>
            <a:ext cx="4937498" cy="480616"/>
          </a:xfrm>
          <a:prstGeom prst="rect">
            <a:avLst/>
          </a:prstGeom>
          <a:noFill/>
          <a:ln/>
        </p:spPr>
        <p:txBody>
          <a:bodyPr wrap="square" lIns="0" tIns="0" rIns="0" bIns="0" rtlCol="0" anchor="t">
            <a:normAutofit fontScale="77500" lnSpcReduction="20000"/>
          </a:bodyPr>
          <a:lstStyle/>
          <a:p>
            <a:pPr marL="0" indent="0" algn="l">
              <a:lnSpc>
                <a:spcPct val="129000"/>
              </a:lnSpc>
              <a:buNone/>
            </a:pPr>
            <a:r>
              <a:rPr lang="en-US" dirty="0">
                <a:solidFill>
                  <a:srgbClr val="333F70"/>
                </a:solidFill>
                <a:latin typeface="Open Sans" pitchFamily="34" charset="0"/>
                <a:ea typeface="Open Sans" pitchFamily="34" charset="-122"/>
                <a:cs typeface="Open Sans" pitchFamily="34" charset="-120"/>
              </a:rPr>
              <a:t>Electricity, Wi-Fi connection, Raspberry Pi, Wires, Speakers, Mic, Concept of IoT </a:t>
            </a:r>
            <a:endParaRPr lang="en-US"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686770"/>
            <a:ext cx="5361647" cy="1158081"/>
          </a:xfrm>
          <a:prstGeom prst="rect">
            <a:avLst/>
          </a:prstGeom>
        </p:spPr>
      </p:pic>
      <p:sp>
        <p:nvSpPr>
          <p:cNvPr id="11" name="Text 6"/>
          <p:cNvSpPr/>
          <p:nvPr/>
        </p:nvSpPr>
        <p:spPr>
          <a:xfrm>
            <a:off x="911698" y="3860800"/>
            <a:ext cx="4937398" cy="242193"/>
          </a:xfrm>
          <a:prstGeom prst="rect">
            <a:avLst/>
          </a:prstGeom>
          <a:noFill/>
          <a:ln/>
        </p:spPr>
        <p:txBody>
          <a:bodyPr wrap="none" lIns="0" tIns="0" rIns="0" bIns="0" rtlCol="0" anchor="t"/>
          <a:lstStyle/>
          <a:p>
            <a:pPr marL="0" indent="0" algn="l">
              <a:lnSpc>
                <a:spcPct val="104000"/>
              </a:lnSpc>
              <a:buNone/>
            </a:pPr>
            <a:r>
              <a:rPr lang="en-IN" sz="1500" b="1" dirty="0">
                <a:solidFill>
                  <a:schemeClr val="accent1">
                    <a:lumMod val="50000"/>
                  </a:schemeClr>
                </a:solidFill>
                <a:latin typeface="Unbounded Bold" panose="020B0604020202020204" charset="0"/>
              </a:rPr>
              <a:t>Breach Potential</a:t>
            </a:r>
            <a:endParaRPr lang="en-US" sz="1500" b="1" dirty="0">
              <a:solidFill>
                <a:schemeClr val="accent1">
                  <a:lumMod val="50000"/>
                </a:schemeClr>
              </a:solidFill>
              <a:latin typeface="Unbounded Bold" panose="020B0604020202020204" charset="0"/>
            </a:endParaRPr>
          </a:p>
        </p:txBody>
      </p:sp>
      <p:sp>
        <p:nvSpPr>
          <p:cNvPr id="12" name="Text 7"/>
          <p:cNvSpPr/>
          <p:nvPr/>
        </p:nvSpPr>
        <p:spPr>
          <a:xfrm>
            <a:off x="911698" y="4190206"/>
            <a:ext cx="4937398" cy="480616"/>
          </a:xfrm>
          <a:prstGeom prst="rect">
            <a:avLst/>
          </a:prstGeom>
          <a:noFill/>
          <a:ln/>
        </p:spPr>
        <p:txBody>
          <a:bodyPr wrap="square" lIns="0" tIns="0" rIns="0" bIns="0" rtlCol="0" anchor="t">
            <a:noAutofit/>
          </a:bodyPr>
          <a:lstStyle/>
          <a:p>
            <a:pPr marL="0" indent="0" algn="l">
              <a:lnSpc>
                <a:spcPct val="129000"/>
              </a:lnSpc>
              <a:buNone/>
            </a:pPr>
            <a:r>
              <a:rPr lang="en-US" sz="1400" dirty="0">
                <a:latin typeface="Open Sans" panose="020B0604020202020204" charset="0"/>
                <a:ea typeface="Open Sans" panose="020B0604020202020204" charset="0"/>
                <a:cs typeface="Open Sans" panose="020B0604020202020204" charset="0"/>
              </a:rPr>
              <a:t>Different outcomes as compared expectations, Technical Glitch </a:t>
            </a: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8474" y="3686770"/>
            <a:ext cx="5361746" cy="1158081"/>
          </a:xfrm>
          <a:prstGeom prst="rect">
            <a:avLst/>
          </a:prstGeom>
        </p:spPr>
      </p:pic>
      <p:sp>
        <p:nvSpPr>
          <p:cNvPr id="14" name="Text 8"/>
          <p:cNvSpPr/>
          <p:nvPr/>
        </p:nvSpPr>
        <p:spPr>
          <a:xfrm>
            <a:off x="6418697" y="3860800"/>
            <a:ext cx="4937498"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Future </a:t>
            </a:r>
            <a:r>
              <a:rPr lang="en-US" sz="1500" b="1" dirty="0" err="1">
                <a:solidFill>
                  <a:srgbClr val="333F70"/>
                </a:solidFill>
                <a:latin typeface="Unbounded Bold" pitchFamily="34" charset="0"/>
                <a:ea typeface="Unbounded Bold" pitchFamily="34" charset="-122"/>
                <a:cs typeface="Unbounded Bold" pitchFamily="34" charset="-120"/>
              </a:rPr>
              <a:t>Enchancements</a:t>
            </a:r>
            <a:endParaRPr lang="en-US" sz="1500" dirty="0"/>
          </a:p>
        </p:txBody>
      </p:sp>
      <p:sp>
        <p:nvSpPr>
          <p:cNvPr id="15" name="Text 9"/>
          <p:cNvSpPr/>
          <p:nvPr/>
        </p:nvSpPr>
        <p:spPr>
          <a:xfrm>
            <a:off x="6418697" y="4190206"/>
            <a:ext cx="4937498"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Speak → AI → Action → Voice. No ecosystem lock-in. Built from components you can change.</a:t>
            </a:r>
            <a:endParaRPr lang="en-US" sz="1200" dirty="0"/>
          </a:p>
        </p:txBody>
      </p:sp>
      <p:sp>
        <p:nvSpPr>
          <p:cNvPr id="16" name="Text 10"/>
          <p:cNvSpPr/>
          <p:nvPr/>
        </p:nvSpPr>
        <p:spPr>
          <a:xfrm>
            <a:off x="894038" y="5171877"/>
            <a:ext cx="11245767" cy="240308"/>
          </a:xfrm>
          <a:prstGeom prst="rect">
            <a:avLst/>
          </a:prstGeom>
          <a:noFill/>
          <a:ln/>
        </p:spPr>
        <p:txBody>
          <a:bodyPr wrap="none" lIns="0" tIns="0" rIns="0" bIns="0" rtlCol="0" anchor="t"/>
          <a:lstStyle/>
          <a:p>
            <a:pPr marL="0" indent="0" algn="l">
              <a:lnSpc>
                <a:spcPct val="129000"/>
              </a:lnSpc>
              <a:buNone/>
            </a:pPr>
            <a:r>
              <a:rPr lang="en-US" sz="1200" b="1" dirty="0">
                <a:solidFill>
                  <a:srgbClr val="333F70"/>
                </a:solidFill>
                <a:latin typeface="Open Sans Bold" pitchFamily="34" charset="0"/>
                <a:ea typeface="Open Sans Bold" pitchFamily="34" charset="-122"/>
                <a:cs typeface="Open Sans Bold" pitchFamily="34" charset="-120"/>
              </a:rPr>
              <a:t>Smart speaker:</a:t>
            </a:r>
            <a:r>
              <a:rPr lang="en-US" sz="1200" dirty="0">
                <a:solidFill>
                  <a:srgbClr val="333F70"/>
                </a:solidFill>
                <a:latin typeface="Open Sans" pitchFamily="34" charset="0"/>
                <a:ea typeface="Open Sans" pitchFamily="34" charset="-122"/>
                <a:cs typeface="Open Sans" pitchFamily="34" charset="-120"/>
              </a:rPr>
              <a:t> "Here are the things I was designed to do</a:t>
            </a:r>
            <a:r>
              <a:rPr lang="en-US" sz="1200">
                <a:solidFill>
                  <a:srgbClr val="333F70"/>
                </a:solidFill>
                <a:latin typeface="Open Sans" pitchFamily="34" charset="0"/>
                <a:ea typeface="Open Sans" pitchFamily="34" charset="-122"/>
                <a:cs typeface="Open Sans" pitchFamily="34" charset="-120"/>
              </a:rPr>
              <a:t>." </a:t>
            </a:r>
            <a:r>
              <a:rPr lang="en-US" sz="1200" b="1">
                <a:solidFill>
                  <a:srgbClr val="333F70"/>
                </a:solidFill>
                <a:latin typeface="Open Sans Bold" pitchFamily="34" charset="0"/>
                <a:ea typeface="Open Sans Bold" pitchFamily="34" charset="-122"/>
                <a:cs typeface="Open Sans Bold" pitchFamily="34" charset="-120"/>
              </a:rPr>
              <a:t>EMO:</a:t>
            </a:r>
            <a:r>
              <a:rPr lang="en-US" sz="1200">
                <a:solidFill>
                  <a:srgbClr val="333F70"/>
                </a:solidFill>
                <a:latin typeface="Open Sans" pitchFamily="34" charset="0"/>
                <a:ea typeface="Open Sans" pitchFamily="34" charset="-122"/>
                <a:cs typeface="Open Sans" pitchFamily="34" charset="-120"/>
              </a:rPr>
              <a:t> </a:t>
            </a:r>
            <a:r>
              <a:rPr lang="en-US" sz="1200" dirty="0">
                <a:solidFill>
                  <a:srgbClr val="333F70"/>
                </a:solidFill>
                <a:latin typeface="Open Sans" pitchFamily="34" charset="0"/>
                <a:ea typeface="Open Sans" pitchFamily="34" charset="-122"/>
                <a:cs typeface="Open Sans" pitchFamily="34" charset="-120"/>
              </a:rPr>
              <a:t>"Tell me what you're trying to accomplish."</a:t>
            </a:r>
            <a:endParaRPr lang="en-US" sz="1200" dirty="0"/>
          </a:p>
        </p:txBody>
      </p:sp>
      <p:sp>
        <p:nvSpPr>
          <p:cNvPr id="17" name="Shape 11"/>
          <p:cNvSpPr/>
          <p:nvPr/>
        </p:nvSpPr>
        <p:spPr>
          <a:xfrm>
            <a:off x="661475" y="5008364"/>
            <a:ext cx="19050" cy="567333"/>
          </a:xfrm>
          <a:prstGeom prst="roundRect">
            <a:avLst>
              <a:gd name="adj" fmla="val 49999"/>
            </a:avLst>
          </a:prstGeom>
          <a:solidFill>
            <a:srgbClr val="26A688"/>
          </a:solidFill>
          <a:ln/>
        </p:spPr>
      </p:sp>
      <p:sp>
        <p:nvSpPr>
          <p:cNvPr id="18" name="Text 12"/>
          <p:cNvSpPr/>
          <p:nvPr/>
        </p:nvSpPr>
        <p:spPr>
          <a:xfrm>
            <a:off x="661475" y="5739209"/>
            <a:ext cx="11478330" cy="240308"/>
          </a:xfrm>
          <a:prstGeom prst="rect">
            <a:avLst/>
          </a:prstGeom>
          <a:noFill/>
          <a:ln/>
        </p:spPr>
        <p:txBody>
          <a:bodyPr wrap="none" lIns="0" tIns="0" rIns="0" bIns="0" rtlCol="0" anchor="t"/>
          <a:lstStyle/>
          <a:p>
            <a:pPr marL="0" indent="0" algn="l">
              <a:lnSpc>
                <a:spcPct val="129000"/>
              </a:lnSpc>
              <a:buNone/>
            </a:pPr>
            <a:endParaRPr lang="en-US" sz="1200" dirty="0"/>
          </a:p>
        </p:txBody>
      </p:sp>
      <p:sp>
        <p:nvSpPr>
          <p:cNvPr id="19" name="Shape 13"/>
          <p:cNvSpPr/>
          <p:nvPr/>
        </p:nvSpPr>
        <p:spPr>
          <a:xfrm>
            <a:off x="661475" y="6143030"/>
            <a:ext cx="3093960" cy="235446"/>
          </a:xfrm>
          <a:prstGeom prst="roundRect">
            <a:avLst>
              <a:gd name="adj" fmla="val 22127"/>
            </a:avLst>
          </a:prstGeom>
          <a:solidFill>
            <a:srgbClr val="D6F5EE"/>
          </a:solidFill>
          <a:ln/>
        </p:spPr>
      </p:sp>
      <p:pic>
        <p:nvPicPr>
          <p:cNvPr id="20" name="Image 4" descr="preencoded.png"/>
          <p:cNvPicPr>
            <a:picLocks noChangeAspect="1"/>
          </p:cNvPicPr>
          <p:nvPr/>
        </p:nvPicPr>
        <p:blipFill>
          <a:blip r:embed="rId5"/>
          <a:stretch>
            <a:fillRect/>
          </a:stretch>
        </p:blipFill>
        <p:spPr>
          <a:xfrm>
            <a:off x="754441" y="6198691"/>
            <a:ext cx="124020" cy="124023"/>
          </a:xfrm>
          <a:prstGeom prst="rect">
            <a:avLst/>
          </a:prstGeom>
        </p:spPr>
      </p:pic>
      <p:sp>
        <p:nvSpPr>
          <p:cNvPr id="21" name="Text 14"/>
          <p:cNvSpPr/>
          <p:nvPr/>
        </p:nvSpPr>
        <p:spPr>
          <a:xfrm>
            <a:off x="940471" y="6189464"/>
            <a:ext cx="3331583" cy="142577"/>
          </a:xfrm>
          <a:prstGeom prst="rect">
            <a:avLst/>
          </a:prstGeom>
          <a:noFill/>
          <a:ln/>
        </p:spPr>
        <p:txBody>
          <a:bodyPr wrap="none" lIns="0" tIns="0" rIns="0" bIns="0" rtlCol="0" anchor="t"/>
          <a:lstStyle/>
          <a:p>
            <a:pPr marL="0" indent="0" algn="l">
              <a:lnSpc>
                <a:spcPct val="96000"/>
              </a:lnSpc>
              <a:buNone/>
            </a:pPr>
            <a:endParaRPr lang="en-US" sz="950" dirty="0"/>
          </a:p>
        </p:txBody>
      </p:sp>
      <p:sp>
        <p:nvSpPr>
          <p:cNvPr id="22" name="TextBox 21">
            <a:extLst>
              <a:ext uri="{FF2B5EF4-FFF2-40B4-BE49-F238E27FC236}">
                <a16:creationId xmlns:a16="http://schemas.microsoft.com/office/drawing/2014/main" id="{7F7782B3-A918-4259-8531-98E7EF1788BF}"/>
              </a:ext>
            </a:extLst>
          </p:cNvPr>
          <p:cNvSpPr txBox="1"/>
          <p:nvPr/>
        </p:nvSpPr>
        <p:spPr>
          <a:xfrm>
            <a:off x="8277529" y="3429000"/>
            <a:ext cx="3062722" cy="3416320"/>
          </a:xfrm>
          <a:prstGeom prst="rect">
            <a:avLst/>
          </a:prstGeom>
          <a:noFill/>
        </p:spPr>
        <p:txBody>
          <a:bodyPr wrap="square" rtlCol="0">
            <a:spAutoFit/>
          </a:bodyPr>
          <a:lstStyle/>
          <a:p>
            <a:r>
              <a:rPr lang="en-US" b="1" dirty="0"/>
              <a:t>* **Technical Feasibility** – Can we build it?</a:t>
            </a:r>
          </a:p>
          <a:p>
            <a:r>
              <a:rPr lang="en-US" b="1" dirty="0"/>
              <a:t>* **Operational Requirements** – What does it need to work?</a:t>
            </a:r>
          </a:p>
          <a:p>
            <a:r>
              <a:rPr lang="en-US" b="1" dirty="0"/>
              <a:t>* **Risks** – What can go wrong?</a:t>
            </a:r>
          </a:p>
          <a:p>
            <a:r>
              <a:rPr lang="en-US" b="1" dirty="0"/>
              <a:t>* **Future Enhancements** – What can we improve later?</a:t>
            </a:r>
          </a:p>
          <a:p>
            <a:r>
              <a:rPr lang="en-US" b="1" dirty="0"/>
              <a:t>* **Scalability** – Can it be used in many places?</a:t>
            </a:r>
          </a:p>
          <a:p>
            <a:endParaRPr lang="en-IN"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83E14-BDC6-40CE-8C9B-DD1CCC795DFE}"/>
              </a:ext>
            </a:extLst>
          </p:cNvPr>
          <p:cNvSpPr txBox="1"/>
          <p:nvPr/>
        </p:nvSpPr>
        <p:spPr>
          <a:xfrm>
            <a:off x="3048000" y="3105835"/>
            <a:ext cx="6096000" cy="1200329"/>
          </a:xfrm>
          <a:prstGeom prst="rect">
            <a:avLst/>
          </a:prstGeom>
          <a:noFill/>
        </p:spPr>
        <p:txBody>
          <a:bodyPr wrap="square">
            <a:spAutoFit/>
          </a:bodyPr>
          <a:lstStyle/>
          <a:p>
            <a:r>
              <a:rPr lang="en-US" sz="2400" dirty="0"/>
              <a:t>USP, comparison with existing solutions, innovation, IP potential, future scope, why your solution stands out.</a:t>
            </a:r>
            <a:endParaRPr lang="en-IN" sz="2400" dirty="0"/>
          </a:p>
        </p:txBody>
      </p:sp>
    </p:spTree>
    <p:extLst>
      <p:ext uri="{BB962C8B-B14F-4D97-AF65-F5344CB8AC3E}">
        <p14:creationId xmlns:p14="http://schemas.microsoft.com/office/powerpoint/2010/main" val="101337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2"/>
          <p:cNvSpPr/>
          <p:nvPr/>
        </p:nvSpPr>
        <p:spPr>
          <a:xfrm>
            <a:off x="4702751" y="1054712"/>
            <a:ext cx="4362873" cy="3106967"/>
          </a:xfrm>
          <a:prstGeom prst="roundRect">
            <a:avLst>
              <a:gd name="adj" fmla="val 7502"/>
            </a:avLst>
          </a:prstGeom>
          <a:solidFill>
            <a:srgbClr val="D6F5EE"/>
          </a:solidFill>
          <a:ln/>
        </p:spPr>
      </p:sp>
      <p:sp>
        <p:nvSpPr>
          <p:cNvPr id="2" name="Rectangle 1"/>
          <p:cNvSpPr/>
          <p:nvPr/>
        </p:nvSpPr>
        <p:spPr>
          <a:xfrm>
            <a:off x="226423" y="69669"/>
            <a:ext cx="10920548" cy="476412"/>
          </a:xfrm>
          <a:prstGeom prst="rect">
            <a:avLst/>
          </a:prstGeom>
        </p:spPr>
        <p:txBody>
          <a:bodyPr wrap="square">
            <a:spAutoFit/>
          </a:bodyPr>
          <a:lstStyle/>
          <a:p>
            <a:pPr algn="ctr">
              <a:lnSpc>
                <a:spcPct val="104000"/>
              </a:lnSpc>
            </a:pPr>
            <a:r>
              <a:rPr lang="en-US" sz="2400" b="1" dirty="0">
                <a:solidFill>
                  <a:srgbClr val="333F70"/>
                </a:solidFill>
                <a:latin typeface="Unbounded Bold" pitchFamily="34" charset="0"/>
              </a:rPr>
              <a:t>Backbone of LUMOS</a:t>
            </a:r>
            <a:endParaRPr lang="en-US" b="1" dirty="0">
              <a:solidFill>
                <a:srgbClr val="333F70"/>
              </a:solidFill>
              <a:latin typeface="Unbounded Bold" pitchFamily="34" charset="0"/>
            </a:endParaRPr>
          </a:p>
        </p:txBody>
      </p:sp>
      <p:sp>
        <p:nvSpPr>
          <p:cNvPr id="3" name="Shape 2"/>
          <p:cNvSpPr/>
          <p:nvPr/>
        </p:nvSpPr>
        <p:spPr>
          <a:xfrm>
            <a:off x="139458" y="1062446"/>
            <a:ext cx="4362873" cy="3091500"/>
          </a:xfrm>
          <a:prstGeom prst="roundRect">
            <a:avLst>
              <a:gd name="adj" fmla="val 7502"/>
            </a:avLst>
          </a:prstGeom>
          <a:solidFill>
            <a:srgbClr val="D6F5EE"/>
          </a:solidFill>
          <a:ln/>
        </p:spPr>
      </p:sp>
      <p:sp>
        <p:nvSpPr>
          <p:cNvPr id="4" name="TextBox 3"/>
          <p:cNvSpPr txBox="1"/>
          <p:nvPr/>
        </p:nvSpPr>
        <p:spPr>
          <a:xfrm>
            <a:off x="0" y="1187329"/>
            <a:ext cx="4563291" cy="461665"/>
          </a:xfrm>
          <a:prstGeom prst="rect">
            <a:avLst/>
          </a:prstGeom>
          <a:noFill/>
        </p:spPr>
        <p:txBody>
          <a:bodyPr wrap="square" rtlCol="0">
            <a:spAutoFit/>
          </a:bodyPr>
          <a:lstStyle/>
          <a:p>
            <a:pPr algn="ctr"/>
            <a:r>
              <a:rPr lang="en-US" sz="2400" b="1" dirty="0"/>
              <a:t>Team Roles</a:t>
            </a:r>
            <a:endParaRPr lang="en-IN" b="1" dirty="0"/>
          </a:p>
        </p:txBody>
      </p:sp>
      <p:sp>
        <p:nvSpPr>
          <p:cNvPr id="6" name="TextBox 5"/>
          <p:cNvSpPr txBox="1"/>
          <p:nvPr/>
        </p:nvSpPr>
        <p:spPr>
          <a:xfrm>
            <a:off x="226424" y="1907177"/>
            <a:ext cx="4336868" cy="1938992"/>
          </a:xfrm>
          <a:prstGeom prst="rect">
            <a:avLst/>
          </a:prstGeom>
          <a:noFill/>
        </p:spPr>
        <p:txBody>
          <a:bodyPr wrap="square" rtlCol="0">
            <a:spAutoFit/>
          </a:bodyPr>
          <a:lstStyle/>
          <a:p>
            <a:r>
              <a:rPr lang="en-US" sz="2000" dirty="0"/>
              <a:t>Arnav Bansal : Project Idea and working</a:t>
            </a:r>
          </a:p>
          <a:p>
            <a:endParaRPr lang="en-US" sz="2000" dirty="0"/>
          </a:p>
          <a:p>
            <a:r>
              <a:rPr lang="en-US" sz="2000" dirty="0"/>
              <a:t>Chirag Jain : Hardware and Presentations</a:t>
            </a:r>
          </a:p>
          <a:p>
            <a:endParaRPr lang="en-US" sz="2000" dirty="0"/>
          </a:p>
          <a:p>
            <a:r>
              <a:rPr lang="en-US" sz="2000" dirty="0" err="1"/>
              <a:t>Kanish</a:t>
            </a:r>
            <a:r>
              <a:rPr lang="en-US" sz="2000" dirty="0"/>
              <a:t> Jain : Editor and Helping Hand</a:t>
            </a:r>
          </a:p>
        </p:txBody>
      </p:sp>
      <p:sp>
        <p:nvSpPr>
          <p:cNvPr id="8" name="TextBox 7"/>
          <p:cNvSpPr txBox="1"/>
          <p:nvPr/>
        </p:nvSpPr>
        <p:spPr>
          <a:xfrm>
            <a:off x="4815900" y="1187328"/>
            <a:ext cx="3927567" cy="461665"/>
          </a:xfrm>
          <a:prstGeom prst="rect">
            <a:avLst/>
          </a:prstGeom>
          <a:noFill/>
        </p:spPr>
        <p:txBody>
          <a:bodyPr wrap="square" rtlCol="0">
            <a:spAutoFit/>
          </a:bodyPr>
          <a:lstStyle/>
          <a:p>
            <a:pPr algn="ctr"/>
            <a:r>
              <a:rPr lang="en-IN" sz="2400" b="1" dirty="0"/>
              <a:t>Mentor</a:t>
            </a:r>
            <a:endParaRPr lang="en-IN" b="1" dirty="0"/>
          </a:p>
        </p:txBody>
      </p:sp>
      <p:sp>
        <p:nvSpPr>
          <p:cNvPr id="9" name="TextBox 8"/>
          <p:cNvSpPr txBox="1"/>
          <p:nvPr/>
        </p:nvSpPr>
        <p:spPr>
          <a:xfrm>
            <a:off x="4702751" y="1837508"/>
            <a:ext cx="4153866" cy="1569660"/>
          </a:xfrm>
          <a:prstGeom prst="rect">
            <a:avLst/>
          </a:prstGeom>
          <a:noFill/>
        </p:spPr>
        <p:txBody>
          <a:bodyPr wrap="square" rtlCol="0">
            <a:spAutoFit/>
          </a:bodyPr>
          <a:lstStyle/>
          <a:p>
            <a:r>
              <a:rPr lang="en-US" sz="2400" b="1" dirty="0" err="1"/>
              <a:t>Maulik</a:t>
            </a:r>
            <a:r>
              <a:rPr lang="en-US" sz="2400" dirty="0"/>
              <a:t> </a:t>
            </a:r>
            <a:r>
              <a:rPr lang="en-US" sz="2400" b="1" dirty="0" err="1"/>
              <a:t>Patolia</a:t>
            </a:r>
            <a:r>
              <a:rPr lang="en-US" sz="2400" dirty="0"/>
              <a:t>,</a:t>
            </a:r>
          </a:p>
          <a:p>
            <a:r>
              <a:rPr lang="en-US" sz="2400" dirty="0"/>
              <a:t>the one who guided and enlightened us throughout this project</a:t>
            </a:r>
            <a:endParaRPr lang="en-IN" sz="2400" dirty="0"/>
          </a:p>
        </p:txBody>
      </p:sp>
      <p:sp>
        <p:nvSpPr>
          <p:cNvPr id="10" name="Shape 2"/>
          <p:cNvSpPr/>
          <p:nvPr/>
        </p:nvSpPr>
        <p:spPr>
          <a:xfrm>
            <a:off x="139458" y="4225456"/>
            <a:ext cx="4362873" cy="2579171"/>
          </a:xfrm>
          <a:prstGeom prst="roundRect">
            <a:avLst>
              <a:gd name="adj" fmla="val 7502"/>
            </a:avLst>
          </a:prstGeom>
          <a:solidFill>
            <a:srgbClr val="D6F5EE"/>
          </a:solidFill>
          <a:ln/>
        </p:spPr>
      </p:sp>
      <p:sp>
        <p:nvSpPr>
          <p:cNvPr id="11" name="TextBox 10"/>
          <p:cNvSpPr txBox="1"/>
          <p:nvPr/>
        </p:nvSpPr>
        <p:spPr>
          <a:xfrm>
            <a:off x="374469" y="4519749"/>
            <a:ext cx="4005942" cy="461665"/>
          </a:xfrm>
          <a:prstGeom prst="rect">
            <a:avLst/>
          </a:prstGeom>
          <a:noFill/>
        </p:spPr>
        <p:txBody>
          <a:bodyPr wrap="square" rtlCol="0">
            <a:spAutoFit/>
          </a:bodyPr>
          <a:lstStyle/>
          <a:p>
            <a:pPr algn="ctr"/>
            <a:r>
              <a:rPr lang="en-US" sz="2400" b="1" dirty="0"/>
              <a:t>Contact Details</a:t>
            </a:r>
            <a:endParaRPr lang="en-IN" sz="2400" b="1" dirty="0"/>
          </a:p>
        </p:txBody>
      </p:sp>
      <p:sp>
        <p:nvSpPr>
          <p:cNvPr id="12" name="TextBox 11"/>
          <p:cNvSpPr txBox="1"/>
          <p:nvPr/>
        </p:nvSpPr>
        <p:spPr>
          <a:xfrm>
            <a:off x="374469" y="4981414"/>
            <a:ext cx="3840480" cy="1754326"/>
          </a:xfrm>
          <a:prstGeom prst="rect">
            <a:avLst/>
          </a:prstGeom>
          <a:noFill/>
        </p:spPr>
        <p:txBody>
          <a:bodyPr wrap="square" rtlCol="0">
            <a:spAutoFit/>
          </a:bodyPr>
          <a:lstStyle/>
          <a:p>
            <a:pPr algn="just"/>
            <a:r>
              <a:rPr lang="en-US" dirty="0"/>
              <a:t>Email ID : </a:t>
            </a:r>
            <a:r>
              <a:rPr lang="en-US" dirty="0">
                <a:hlinkClick r:id="rId2"/>
              </a:rPr>
              <a:t>maulikpatolia007@gmail.com</a:t>
            </a:r>
            <a:endParaRPr lang="en-US" dirty="0"/>
          </a:p>
          <a:p>
            <a:pPr algn="just"/>
            <a:r>
              <a:rPr lang="en-US" dirty="0">
                <a:hlinkClick r:id="rId3"/>
              </a:rPr>
              <a:t>chirag.vijendra944@gmail.com</a:t>
            </a:r>
            <a:endParaRPr lang="en-US" dirty="0"/>
          </a:p>
          <a:p>
            <a:pPr algn="just"/>
            <a:endParaRPr lang="en-US" dirty="0"/>
          </a:p>
          <a:p>
            <a:pPr algn="just"/>
            <a:r>
              <a:rPr lang="en-US" dirty="0"/>
              <a:t>GitHub:</a:t>
            </a:r>
          </a:p>
          <a:p>
            <a:pPr algn="just"/>
            <a:r>
              <a:rPr lang="en-US" dirty="0"/>
              <a:t>Id : </a:t>
            </a:r>
            <a:r>
              <a:rPr lang="en-IN" dirty="0"/>
              <a:t>@</a:t>
            </a:r>
            <a:r>
              <a:rPr lang="en-IN" dirty="0" err="1"/>
              <a:t>cyborgchirag</a:t>
            </a:r>
            <a:endParaRPr lang="en-IN" dirty="0"/>
          </a:p>
        </p:txBody>
      </p:sp>
      <p:sp>
        <p:nvSpPr>
          <p:cNvPr id="13" name="Shape 2"/>
          <p:cNvSpPr/>
          <p:nvPr/>
        </p:nvSpPr>
        <p:spPr>
          <a:xfrm>
            <a:off x="4737342" y="4225456"/>
            <a:ext cx="7376038" cy="2579171"/>
          </a:xfrm>
          <a:prstGeom prst="roundRect">
            <a:avLst>
              <a:gd name="adj" fmla="val 7502"/>
            </a:avLst>
          </a:prstGeom>
          <a:solidFill>
            <a:srgbClr val="D6F5EE"/>
          </a:solidFill>
          <a:ln/>
        </p:spPr>
      </p:sp>
      <p:sp>
        <p:nvSpPr>
          <p:cNvPr id="5" name="TextBox 4"/>
          <p:cNvSpPr txBox="1"/>
          <p:nvPr/>
        </p:nvSpPr>
        <p:spPr>
          <a:xfrm>
            <a:off x="4815900" y="4450080"/>
            <a:ext cx="7036466" cy="461665"/>
          </a:xfrm>
          <a:prstGeom prst="rect">
            <a:avLst/>
          </a:prstGeom>
          <a:noFill/>
        </p:spPr>
        <p:txBody>
          <a:bodyPr wrap="square" rtlCol="0">
            <a:spAutoFit/>
          </a:bodyPr>
          <a:lstStyle/>
          <a:p>
            <a:pPr algn="ctr"/>
            <a:r>
              <a:rPr lang="en-US" sz="2400" b="1" dirty="0"/>
              <a:t>Future vision</a:t>
            </a:r>
          </a:p>
        </p:txBody>
      </p:sp>
      <p:sp>
        <p:nvSpPr>
          <p:cNvPr id="15" name="TextBox 14"/>
          <p:cNvSpPr txBox="1"/>
          <p:nvPr/>
        </p:nvSpPr>
        <p:spPr>
          <a:xfrm>
            <a:off x="4815900" y="4944475"/>
            <a:ext cx="7149677" cy="1823576"/>
          </a:xfrm>
          <a:prstGeom prst="rect">
            <a:avLst/>
          </a:prstGeom>
          <a:noFill/>
        </p:spPr>
        <p:txBody>
          <a:bodyPr wrap="square" rtlCol="0">
            <a:spAutoFit/>
          </a:bodyPr>
          <a:lstStyle/>
          <a:p>
            <a:r>
              <a:rPr lang="en-US" sz="2250" i="1" dirty="0"/>
              <a:t>The aim of Nox is just to create AI models which can integrate sustainability, and user comfort. In this revolutionizing world of technology, Nox tries that every problem has an innovative and pocket friendly solution. LUMOS is the first step towards it.</a:t>
            </a:r>
            <a:endParaRPr lang="en-IN" sz="2250" i="1" dirty="0"/>
          </a:p>
        </p:txBody>
      </p:sp>
    </p:spTree>
    <p:extLst>
      <p:ext uri="{BB962C8B-B14F-4D97-AF65-F5344CB8AC3E}">
        <p14:creationId xmlns:p14="http://schemas.microsoft.com/office/powerpoint/2010/main" val="1492505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TotalTime>
  <Words>1497</Words>
  <Application>Microsoft Office PowerPoint</Application>
  <PresentationFormat>Widescreen</PresentationFormat>
  <Paragraphs>153</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Noto Color Emoji</vt:lpstr>
      <vt:lpstr>Unbounded Bold</vt:lpstr>
      <vt:lpstr>Open Sans</vt:lpstr>
      <vt:lpstr>Calibri</vt:lpstr>
      <vt:lpstr>Arial</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0025au</dc:creator>
  <cp:lastModifiedBy>DELL</cp:lastModifiedBy>
  <cp:revision>28</cp:revision>
  <dcterms:created xsi:type="dcterms:W3CDTF">2026-09-27T12:28:26Z</dcterms:created>
  <dcterms:modified xsi:type="dcterms:W3CDTF">2026-09-29T07:29:47Z</dcterms:modified>
</cp:coreProperties>
</file>