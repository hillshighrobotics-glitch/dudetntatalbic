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embeddedFontLst>
    <p:embeddedFont>
      <p:font typeface="Open Sans Bold" panose="020B0604020202020204" charset="0"/>
      <p:regular r:id="rId13"/>
    </p:embeddedFont>
    <p:embeddedFont>
      <p:font typeface="Unbounded Bold" panose="020B0604020202020204" charset="0"/>
      <p:regular r:id="rId14"/>
    </p:embeddedFont>
    <p:embeddedFont>
      <p:font typeface="Calibri" panose="020F0502020204030204" pitchFamily="34" charset="0"/>
      <p:regular r:id="rId15"/>
      <p:bold r:id="rId16"/>
      <p:italic r:id="rId17"/>
      <p:boldItalic r:id="rId18"/>
    </p:embeddedFont>
    <p:embeddedFont>
      <p:font typeface="Open Sans" panose="020B0604020202020204" charset="0"/>
      <p:regular r:id="rId19"/>
      <p:bold r:id="rId20"/>
      <p:italic r:id="rId21"/>
      <p:boldItalic r:id="rId2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F7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73" autoAdjust="0"/>
    <p:restoredTop sz="94610"/>
  </p:normalViewPr>
  <p:slideViewPr>
    <p:cSldViewPr snapToGrid="0" snapToObjects="1">
      <p:cViewPr varScale="1">
        <p:scale>
          <a:sx n="86" d="100"/>
          <a:sy n="86" d="100"/>
        </p:scale>
        <p:origin x="42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97004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6F5E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6F5EE"/>
          </a:solidFill>
          <a:ln/>
        </p:spPr>
      </p:sp>
      <p:sp>
        <p:nvSpPr>
          <p:cNvPr id="4" name="Text 1"/>
          <p:cNvSpPr/>
          <p:nvPr/>
        </p:nvSpPr>
        <p:spPr>
          <a:xfrm>
            <a:off x="661475" y="622201"/>
            <a:ext cx="6296860" cy="10334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 smtClean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X</a:t>
            </a:r>
            <a:endParaRPr lang="en-US" sz="3250" dirty="0"/>
          </a:p>
        </p:txBody>
      </p:sp>
      <p:sp>
        <p:nvSpPr>
          <p:cNvPr id="5" name="Text 2"/>
          <p:cNvSpPr/>
          <p:nvPr/>
        </p:nvSpPr>
        <p:spPr>
          <a:xfrm>
            <a:off x="661475" y="1903710"/>
            <a:ext cx="6296860" cy="28527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4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A voice-first AI assistant that doesn't </a:t>
            </a:r>
            <a:r>
              <a:rPr lang="en-US" sz="4450" b="1" dirty="0" smtClean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just </a:t>
            </a:r>
            <a:r>
              <a:rPr lang="en-US" sz="44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answer — it acts.</a:t>
            </a:r>
            <a:endParaRPr lang="en-US" sz="4450" dirty="0"/>
          </a:p>
        </p:txBody>
      </p:sp>
      <p:sp>
        <p:nvSpPr>
          <p:cNvPr id="6" name="Text 3"/>
          <p:cNvSpPr/>
          <p:nvPr/>
        </p:nvSpPr>
        <p:spPr>
          <a:xfrm>
            <a:off x="661475" y="5004495"/>
            <a:ext cx="6296860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Built on a Raspberry Pi Zero W with microphone, Bluetooth speaker, AI/LLM backends, and an optional phone/browser interface. </a:t>
            </a:r>
            <a:r>
              <a:rPr lang="en-US" sz="1300" dirty="0" smtClean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LUMOS </a:t>
            </a:r>
            <a:r>
              <a:rPr lang="en-US" sz="13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transforms the smart home assistant from a command executor into a true personal AI agent.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61475" y="5984379"/>
            <a:ext cx="1151206" cy="251420"/>
          </a:xfrm>
          <a:prstGeom prst="roundRect">
            <a:avLst>
              <a:gd name="adj" fmla="val 22103"/>
            </a:avLst>
          </a:prstGeom>
          <a:solidFill>
            <a:srgbClr val="D6F5EE"/>
          </a:solidFill>
          <a:ln/>
        </p:spPr>
      </p:sp>
      <p:sp>
        <p:nvSpPr>
          <p:cNvPr id="8" name="Text 5"/>
          <p:cNvSpPr/>
          <p:nvPr/>
        </p:nvSpPr>
        <p:spPr>
          <a:xfrm>
            <a:off x="760691" y="6027938"/>
            <a:ext cx="1562359" cy="158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TEAM: Hills High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1895328" y="5984379"/>
            <a:ext cx="1279096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26A68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994545" y="6033988"/>
            <a:ext cx="1690248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 smtClean="0">
                <a:solidFill>
                  <a:srgbClr val="26A6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MENTOR: </a:t>
            </a:r>
            <a:r>
              <a:rPr lang="en-US" sz="1000" dirty="0" err="1" smtClean="0">
                <a:solidFill>
                  <a:srgbClr val="26A6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Maulik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257072" y="5984379"/>
            <a:ext cx="1226710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26A68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356288" y="6033988"/>
            <a:ext cx="1637862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26A6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THEME: [THEME]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566429" y="5984379"/>
            <a:ext cx="1550849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26A68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665645" y="6033988"/>
            <a:ext cx="1962002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26A6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CONTACT: [CONTACT]</a:t>
            </a:r>
            <a:endParaRPr lang="en-US" sz="1000" dirty="0"/>
          </a:p>
        </p:txBody>
      </p:sp>
      <p:sp>
        <p:nvSpPr>
          <p:cNvPr id="15" name="TextBox 14"/>
          <p:cNvSpPr txBox="1"/>
          <p:nvPr/>
        </p:nvSpPr>
        <p:spPr>
          <a:xfrm>
            <a:off x="6899455" y="310718"/>
            <a:ext cx="4801314" cy="6116715"/>
          </a:xfrm>
          <a:prstGeom prst="rect">
            <a:avLst/>
          </a:prstGeom>
          <a:noFill/>
        </p:spPr>
        <p:txBody>
          <a:bodyPr vert="vert" wrap="square" rtlCol="0">
            <a:spAutoFit/>
          </a:bodyPr>
          <a:lstStyle/>
          <a:p>
            <a:r>
              <a:rPr lang="en-US" sz="6000" b="1" dirty="0" smtClean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LUMOS </a:t>
            </a:r>
            <a:r>
              <a:rPr lang="en-US" sz="60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— Your AI Home Assistant</a:t>
            </a:r>
            <a:endParaRPr lang="en-US" sz="6000" dirty="0"/>
          </a:p>
          <a:p>
            <a:pPr lvl="1"/>
            <a:endParaRPr lang="en-US" sz="6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4">
            <a:extLst>
              <a:ext uri="{FF2B5EF4-FFF2-40B4-BE49-F238E27FC236}">
                <a16:creationId xmlns:a16="http://schemas.microsoft.com/office/drawing/2014/main" id="{CB733C3F-6961-219C-9FF2-9EEEA03789F7}"/>
              </a:ext>
            </a:extLst>
          </p:cNvPr>
          <p:cNvSpPr/>
          <p:nvPr/>
        </p:nvSpPr>
        <p:spPr>
          <a:xfrm>
            <a:off x="115410" y="5693260"/>
            <a:ext cx="11993731" cy="1108488"/>
          </a:xfrm>
          <a:custGeom>
            <a:avLst/>
            <a:gdLst/>
            <a:ahLst/>
            <a:cxnLst/>
            <a:rect l="l" t="t" r="r" b="b"/>
            <a:pathLst>
              <a:path w="6284160" h="1234083">
                <a:moveTo>
                  <a:pt x="55173" y="0"/>
                </a:moveTo>
                <a:lnTo>
                  <a:pt x="6228987" y="0"/>
                </a:lnTo>
                <a:arcTo wR="55173" hR="55175" stAng="16200000" swAng="5400000"/>
                <a:lnTo>
                  <a:pt x="6284160" y="1234083"/>
                </a:lnTo>
                <a:lnTo>
                  <a:pt x="0" y="1234083"/>
                </a:lnTo>
                <a:lnTo>
                  <a:pt x="0" y="55175"/>
                </a:lnTo>
                <a:arcTo wR="55173" hR="55175" stAng="10800000" swAng="5400000"/>
                <a:close/>
              </a:path>
            </a:pathLst>
          </a:custGeom>
          <a:solidFill>
            <a:srgbClr val="D6F5EE"/>
          </a:solidFill>
          <a:ln/>
        </p:spPr>
      </p:sp>
      <p:sp>
        <p:nvSpPr>
          <p:cNvPr id="4" name="Text 1"/>
          <p:cNvSpPr/>
          <p:nvPr/>
        </p:nvSpPr>
        <p:spPr>
          <a:xfrm>
            <a:off x="319596" y="331780"/>
            <a:ext cx="11258930" cy="14778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100" b="1" dirty="0" smtClean="0">
                <a:solidFill>
                  <a:srgbClr val="333F70"/>
                </a:solidFill>
                <a:latin typeface="Unbounded Bold" pitchFamily="34" charset="0"/>
              </a:rPr>
              <a:t>Smart </a:t>
            </a:r>
            <a:r>
              <a:rPr lang="en-US" sz="3100" b="1" dirty="0">
                <a:solidFill>
                  <a:srgbClr val="333F70"/>
                </a:solidFill>
                <a:latin typeface="Unbounded Bold" pitchFamily="34" charset="0"/>
              </a:rPr>
              <a:t>Assistants Are Still Too Limited</a:t>
            </a:r>
            <a:endParaRPr lang="en-US" sz="3100" dirty="0"/>
          </a:p>
        </p:txBody>
      </p:sp>
      <p:sp>
        <p:nvSpPr>
          <p:cNvPr id="5" name="Text 2"/>
          <p:cNvSpPr/>
          <p:nvPr/>
        </p:nvSpPr>
        <p:spPr>
          <a:xfrm>
            <a:off x="630314" y="1189608"/>
            <a:ext cx="10954561" cy="12976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>
              <a:lnSpc>
                <a:spcPct val="130000"/>
              </a:lnSpc>
              <a:buNone/>
            </a:pPr>
            <a:r>
              <a:rPr lang="en-US" sz="2000" b="1" i="1" dirty="0">
                <a:solidFill>
                  <a:srgbClr val="333F70"/>
                </a:solidFill>
                <a:ea typeface="Open Sans" pitchFamily="34" charset="-122"/>
                <a:cs typeface="Open Sans" pitchFamily="34" charset="-120"/>
              </a:rPr>
              <a:t>Traditional smart assistants made voice interaction mainstream — but the experience is still locked to predefined capabilities, skills, and a </a:t>
            </a:r>
            <a:r>
              <a:rPr lang="en-US" sz="2000" b="1" i="1" dirty="0" smtClean="0">
                <a:solidFill>
                  <a:srgbClr val="333F70"/>
                </a:solidFill>
                <a:ea typeface="Open Sans" pitchFamily="34" charset="-122"/>
                <a:cs typeface="Open Sans" pitchFamily="34" charset="-120"/>
              </a:rPr>
              <a:t>manufacturer's </a:t>
            </a:r>
            <a:r>
              <a:rPr lang="en-US" sz="2000" b="1" i="1" dirty="0">
                <a:solidFill>
                  <a:srgbClr val="333F70"/>
                </a:solidFill>
                <a:ea typeface="Open Sans" pitchFamily="34" charset="-122"/>
                <a:cs typeface="Open Sans" pitchFamily="34" charset="-120"/>
              </a:rPr>
              <a:t>ecosystem. You can ask "Set a timer" or "Play music," but when the request gets complicated, users reach for their phone.</a:t>
            </a:r>
            <a:endParaRPr lang="en-US" sz="2000" b="1" i="1" dirty="0"/>
          </a:p>
        </p:txBody>
      </p:sp>
      <p:sp>
        <p:nvSpPr>
          <p:cNvPr id="7" name="Shape 4"/>
          <p:cNvSpPr/>
          <p:nvPr/>
        </p:nvSpPr>
        <p:spPr>
          <a:xfrm>
            <a:off x="115410" y="2556341"/>
            <a:ext cx="11993731" cy="1305392"/>
          </a:xfrm>
          <a:custGeom>
            <a:avLst/>
            <a:gdLst/>
            <a:ahLst/>
            <a:cxnLst/>
            <a:rect l="l" t="t" r="r" b="b"/>
            <a:pathLst>
              <a:path w="6284160" h="1234083">
                <a:moveTo>
                  <a:pt x="55173" y="0"/>
                </a:moveTo>
                <a:lnTo>
                  <a:pt x="6228987" y="0"/>
                </a:lnTo>
                <a:arcTo wR="55173" hR="55175" stAng="16200000" swAng="5400000"/>
                <a:lnTo>
                  <a:pt x="6284160" y="1234083"/>
                </a:lnTo>
                <a:lnTo>
                  <a:pt x="0" y="1234083"/>
                </a:lnTo>
                <a:lnTo>
                  <a:pt x="0" y="55175"/>
                </a:lnTo>
                <a:arcTo wR="55173" hR="55175" stAng="10800000" swAng="5400000"/>
                <a:close/>
              </a:path>
            </a:pathLst>
          </a:custGeom>
          <a:solidFill>
            <a:srgbClr val="D6F5EE"/>
          </a:solidFill>
          <a:ln/>
        </p:spPr>
      </p:sp>
      <p:sp>
        <p:nvSpPr>
          <p:cNvPr id="8" name="Text 5"/>
          <p:cNvSpPr/>
          <p:nvPr/>
        </p:nvSpPr>
        <p:spPr>
          <a:xfrm>
            <a:off x="186432" y="2610415"/>
            <a:ext cx="11199648" cy="367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 smtClean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Problem</a:t>
            </a:r>
            <a:r>
              <a:rPr lang="en-US" sz="15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: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86432" y="3005151"/>
            <a:ext cx="11754875" cy="582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i="1" dirty="0">
                <a:solidFill>
                  <a:schemeClr val="accent1">
                    <a:lumMod val="75000"/>
                  </a:schemeClr>
                </a:solidFill>
              </a:rPr>
              <a:t>Restricted to supported skills and integrations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i="1" dirty="0">
                <a:solidFill>
                  <a:schemeClr val="accent1">
                    <a:lumMod val="75000"/>
                  </a:schemeClr>
                </a:solidFill>
              </a:rPr>
              <a:t>Many tasks require specific commands or services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i="1" dirty="0">
                <a:solidFill>
                  <a:schemeClr val="accent1">
                    <a:lumMod val="75000"/>
                  </a:schemeClr>
                </a:solidFill>
              </a:rPr>
              <a:t>Users must often phrase requests in ways the assistant understands</a:t>
            </a:r>
            <a:r>
              <a:rPr lang="en-IN" sz="1400" b="1" dirty="0">
                <a:solidFill>
                  <a:schemeClr val="accent1">
                    <a:lumMod val="75000"/>
                  </a:schemeClr>
                </a:solidFill>
              </a:rPr>
              <a:t>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IN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54589377-B199-68BA-2382-86C16BF87893}"/>
              </a:ext>
            </a:extLst>
          </p:cNvPr>
          <p:cNvSpPr/>
          <p:nvPr/>
        </p:nvSpPr>
        <p:spPr>
          <a:xfrm>
            <a:off x="115410" y="3953145"/>
            <a:ext cx="11993732" cy="1699077"/>
          </a:xfrm>
          <a:custGeom>
            <a:avLst/>
            <a:gdLst/>
            <a:ahLst/>
            <a:cxnLst/>
            <a:rect l="l" t="t" r="r" b="b"/>
            <a:pathLst>
              <a:path w="6284160" h="1234083">
                <a:moveTo>
                  <a:pt x="55173" y="0"/>
                </a:moveTo>
                <a:lnTo>
                  <a:pt x="6228987" y="0"/>
                </a:lnTo>
                <a:arcTo wR="55173" hR="55175" stAng="16200000" swAng="5400000"/>
                <a:lnTo>
                  <a:pt x="6284160" y="1234083"/>
                </a:lnTo>
                <a:lnTo>
                  <a:pt x="0" y="1234083"/>
                </a:lnTo>
                <a:lnTo>
                  <a:pt x="0" y="55175"/>
                </a:lnTo>
                <a:arcTo wR="55173" hR="55175" stAng="10800000" swAng="5400000"/>
                <a:close/>
              </a:path>
            </a:pathLst>
          </a:custGeom>
          <a:solidFill>
            <a:srgbClr val="D6F5EE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8E4F61-C9F6-4110-A5B4-57772B23D2E6}"/>
              </a:ext>
            </a:extLst>
          </p:cNvPr>
          <p:cNvSpPr txBox="1"/>
          <p:nvPr/>
        </p:nvSpPr>
        <p:spPr>
          <a:xfrm>
            <a:off x="186434" y="4320587"/>
            <a:ext cx="112638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b="1" dirty="0">
                <a:solidFill>
                  <a:schemeClr val="accent1">
                    <a:lumMod val="75000"/>
                  </a:schemeClr>
                </a:solidFill>
              </a:rPr>
              <a:t>USER → FIXED COMMAND → FIXED CAPABILITY → RESPONSE</a:t>
            </a:r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A619B926-24CF-7D7F-F822-FBA76EC5A0F8}"/>
              </a:ext>
            </a:extLst>
          </p:cNvPr>
          <p:cNvSpPr/>
          <p:nvPr/>
        </p:nvSpPr>
        <p:spPr>
          <a:xfrm>
            <a:off x="186433" y="4076317"/>
            <a:ext cx="11199646" cy="246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333F70"/>
                </a:solidFill>
                <a:latin typeface="Unbounded Bold" pitchFamily="34" charset="0"/>
              </a:rPr>
              <a:t>Traditional Assistant</a:t>
            </a:r>
            <a:endParaRPr lang="en-US" sz="155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3544A67-6075-9A0B-7D1C-C5A35A1BC398}"/>
              </a:ext>
            </a:extLst>
          </p:cNvPr>
          <p:cNvSpPr txBox="1"/>
          <p:nvPr/>
        </p:nvSpPr>
        <p:spPr>
          <a:xfrm>
            <a:off x="186432" y="5079849"/>
            <a:ext cx="112765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b="1" dirty="0">
                <a:solidFill>
                  <a:schemeClr val="accent1">
                    <a:lumMod val="75000"/>
                  </a:schemeClr>
                </a:solidFill>
              </a:rPr>
              <a:t>USER → NATURAL INTENT → REASONING → TOOLS → ACTION</a:t>
            </a:r>
          </a:p>
        </p:txBody>
      </p:sp>
      <p:sp>
        <p:nvSpPr>
          <p:cNvPr id="24" name="Text 5">
            <a:extLst>
              <a:ext uri="{FF2B5EF4-FFF2-40B4-BE49-F238E27FC236}">
                <a16:creationId xmlns:a16="http://schemas.microsoft.com/office/drawing/2014/main" id="{7CC9A25E-AEEA-090D-B241-A4CEDAE95C20}"/>
              </a:ext>
            </a:extLst>
          </p:cNvPr>
          <p:cNvSpPr/>
          <p:nvPr/>
        </p:nvSpPr>
        <p:spPr>
          <a:xfrm>
            <a:off x="186433" y="4783064"/>
            <a:ext cx="11212346" cy="246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333F70"/>
                </a:solidFill>
                <a:latin typeface="Unbounded Bold" pitchFamily="34" charset="0"/>
              </a:rPr>
              <a:t>Modern AI</a:t>
            </a:r>
            <a:endParaRPr lang="en-US" sz="155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C2B1888-74D1-1BEB-FEB4-298116480299}"/>
              </a:ext>
            </a:extLst>
          </p:cNvPr>
          <p:cNvSpPr txBox="1"/>
          <p:nvPr/>
        </p:nvSpPr>
        <p:spPr>
          <a:xfrm>
            <a:off x="115410" y="5797785"/>
            <a:ext cx="11334920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550" b="1" dirty="0">
                <a:solidFill>
                  <a:srgbClr val="333F70"/>
                </a:solidFill>
                <a:latin typeface="Unbounded Bold" panose="020B0604020202020204" charset="0"/>
              </a:rPr>
              <a:t>The real opportunity</a:t>
            </a:r>
          </a:p>
          <a:p>
            <a:pPr>
              <a:buNone/>
            </a:pPr>
            <a:r>
              <a:rPr lang="en-IN" sz="1600" b="1" dirty="0">
                <a:solidFill>
                  <a:schemeClr val="accent1">
                    <a:lumMod val="75000"/>
                  </a:schemeClr>
                </a:solidFill>
              </a:rPr>
              <a:t>Today's LLMs can understand natural language, reason across a request, use tools, access information, and perform multi-step tasks.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0787" y="868759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b="1" dirty="0" smtClean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               Alexa 		           			LUMOS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671111" y="1570157"/>
            <a:ext cx="4946223" cy="4544996"/>
          </a:xfrm>
          <a:prstGeom prst="roundRect">
            <a:avLst>
              <a:gd name="adj" fmla="val 7502"/>
            </a:avLst>
          </a:prstGeom>
          <a:solidFill>
            <a:srgbClr val="D6F5EE"/>
          </a:solidFill>
          <a:ln/>
        </p:spPr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A2D31F-AF1F-5982-CEF2-AB46D2586082}"/>
              </a:ext>
            </a:extLst>
          </p:cNvPr>
          <p:cNvSpPr txBox="1"/>
          <p:nvPr/>
        </p:nvSpPr>
        <p:spPr>
          <a:xfrm>
            <a:off x="671111" y="1779428"/>
            <a:ext cx="29382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 smtClean="0">
                <a:solidFill>
                  <a:srgbClr val="333F70"/>
                </a:solidFill>
                <a:latin typeface="Unbounded Bold" panose="020B0604020202020204" charset="0"/>
              </a:rPr>
              <a:t>Alexa</a:t>
            </a:r>
            <a:endParaRPr lang="en-IN" dirty="0">
              <a:solidFill>
                <a:srgbClr val="333F70"/>
              </a:solidFill>
              <a:latin typeface="Unbounded Bold" panose="020B060402020202020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7E73E0-0FEE-E222-9CE8-4CAA8AD0DFEF}"/>
              </a:ext>
            </a:extLst>
          </p:cNvPr>
          <p:cNvSpPr txBox="1"/>
          <p:nvPr/>
        </p:nvSpPr>
        <p:spPr>
          <a:xfrm>
            <a:off x="825623" y="2148760"/>
            <a:ext cx="439018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800" b="1" dirty="0">
                <a:solidFill>
                  <a:schemeClr val="accent1">
                    <a:lumMod val="75000"/>
                  </a:schemeClr>
                </a:solidFill>
              </a:rPr>
              <a:t>Not a true LLM-first assistant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800" b="1" dirty="0">
                <a:solidFill>
                  <a:schemeClr val="accent1">
                    <a:lumMod val="75000"/>
                  </a:schemeClr>
                </a:solidFill>
              </a:rPr>
              <a:t>Limited to Amazon’s ecosystem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800" b="1" dirty="0">
                <a:solidFill>
                  <a:schemeClr val="accent1">
                    <a:lumMod val="75000"/>
                  </a:schemeClr>
                </a:solidFill>
              </a:rPr>
              <a:t>Limited personalization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800" b="1" dirty="0">
                <a:solidFill>
                  <a:schemeClr val="accent1">
                    <a:lumMod val="75000"/>
                  </a:schemeClr>
                </a:solidFill>
              </a:rPr>
              <a:t>System prompt cannot be changed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800" b="1" dirty="0">
                <a:solidFill>
                  <a:schemeClr val="accent1">
                    <a:lumMod val="75000"/>
                  </a:schemeClr>
                </a:solidFill>
              </a:rPr>
              <a:t>Limited conversation</a:t>
            </a:r>
          </a:p>
        </p:txBody>
      </p:sp>
      <p:sp>
        <p:nvSpPr>
          <p:cNvPr id="6" name="Shape 2"/>
          <p:cNvSpPr/>
          <p:nvPr/>
        </p:nvSpPr>
        <p:spPr>
          <a:xfrm>
            <a:off x="6698657" y="1570156"/>
            <a:ext cx="4831563" cy="4544997"/>
          </a:xfrm>
          <a:prstGeom prst="roundRect">
            <a:avLst>
              <a:gd name="adj" fmla="val 7502"/>
            </a:avLst>
          </a:prstGeom>
          <a:solidFill>
            <a:srgbClr val="D6F5EE"/>
          </a:solidFill>
          <a:ln/>
        </p:spPr>
      </p:sp>
      <p:sp>
        <p:nvSpPr>
          <p:cNvPr id="3" name="TextBox 2"/>
          <p:cNvSpPr txBox="1"/>
          <p:nvPr/>
        </p:nvSpPr>
        <p:spPr>
          <a:xfrm>
            <a:off x="6942337" y="1779428"/>
            <a:ext cx="40659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 smtClean="0">
                <a:solidFill>
                  <a:srgbClr val="333F70"/>
                </a:solidFill>
                <a:latin typeface="Unbounded Bold" panose="020B0604020202020204" charset="0"/>
              </a:rPr>
              <a:t>LUMOS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7E73E0-0FEE-E222-9CE8-4CAA8AD0DFEF}"/>
              </a:ext>
            </a:extLst>
          </p:cNvPr>
          <p:cNvSpPr txBox="1"/>
          <p:nvPr/>
        </p:nvSpPr>
        <p:spPr>
          <a:xfrm>
            <a:off x="6919343" y="2144836"/>
            <a:ext cx="439018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800" b="1" dirty="0" smtClean="0">
                <a:solidFill>
                  <a:schemeClr val="accent1">
                    <a:lumMod val="75000"/>
                  </a:schemeClr>
                </a:solidFill>
              </a:rPr>
              <a:t>ChatGPT API</a:t>
            </a:r>
            <a:endParaRPr lang="en-IN" sz="2800" b="1" dirty="0">
              <a:solidFill>
                <a:schemeClr val="accent1">
                  <a:lumMod val="7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800" b="1" dirty="0" smtClean="0">
                <a:solidFill>
                  <a:schemeClr val="accent1">
                    <a:lumMod val="75000"/>
                  </a:schemeClr>
                </a:solidFill>
              </a:rPr>
              <a:t>User flexibility through open source</a:t>
            </a:r>
            <a:endParaRPr lang="en-IN" sz="2800" b="1" dirty="0">
              <a:solidFill>
                <a:schemeClr val="accent1">
                  <a:lumMod val="7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800" b="1" dirty="0" smtClean="0">
                <a:solidFill>
                  <a:schemeClr val="accent1">
                    <a:lumMod val="75000"/>
                  </a:schemeClr>
                </a:solidFill>
              </a:rPr>
              <a:t>Multipurpose approach through tools </a:t>
            </a:r>
            <a:endParaRPr lang="en-IN" sz="2800" b="1" dirty="0">
              <a:solidFill>
                <a:schemeClr val="accent1">
                  <a:lumMod val="7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800" b="1" dirty="0" smtClean="0">
                <a:solidFill>
                  <a:schemeClr val="accent1">
                    <a:lumMod val="75000"/>
                  </a:schemeClr>
                </a:solidFill>
              </a:rPr>
              <a:t>Backup of previous conversation</a:t>
            </a:r>
            <a:endParaRPr lang="en-IN" sz="2800" b="1" dirty="0">
              <a:solidFill>
                <a:schemeClr val="accent1">
                  <a:lumMod val="7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800" b="1" dirty="0" smtClean="0">
                <a:solidFill>
                  <a:schemeClr val="accent1">
                    <a:lumMod val="75000"/>
                  </a:schemeClr>
                </a:solidFill>
              </a:rPr>
              <a:t>Long distance conversation through IoT</a:t>
            </a:r>
            <a:endParaRPr lang="en-IN" sz="2800" b="1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D6F5EE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47" y="491232"/>
            <a:ext cx="4406492" cy="58755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598884"/>
            <a:ext cx="6296860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 smtClean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Meet LUMOS</a:t>
            </a:r>
            <a:endParaRPr lang="en-US" sz="3250" dirty="0"/>
          </a:p>
        </p:txBody>
      </p:sp>
      <p:sp>
        <p:nvSpPr>
          <p:cNvPr id="5" name="Text 2"/>
          <p:cNvSpPr/>
          <p:nvPr/>
        </p:nvSpPr>
        <p:spPr>
          <a:xfrm>
            <a:off x="5233360" y="1313895"/>
            <a:ext cx="6296860" cy="5790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00" i="1" dirty="0" smtClean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LUMOS </a:t>
            </a:r>
            <a:r>
              <a:rPr lang="en-US" sz="1400" i="1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is a Raspberry Pi-based AI home assistant designed to listen, understand, act, and respond. One small device, one natural interface, many AI capabilities.</a:t>
            </a:r>
            <a:endParaRPr lang="en-US" sz="1400" i="1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3360" y="2078930"/>
            <a:ext cx="6296860" cy="293568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448278" y="2483076"/>
            <a:ext cx="1438794" cy="1777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Listen Naturally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5382906" y="2711393"/>
            <a:ext cx="1504167" cy="284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8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User speaks to </a:t>
            </a:r>
            <a:r>
              <a:rPr lang="en-US" sz="850" dirty="0" smtClean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LUMOS </a:t>
            </a:r>
            <a:r>
              <a:rPr lang="en-US" sz="8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 normal language.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9876446" y="2963410"/>
            <a:ext cx="1504167" cy="3555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Recognize &amp; Route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876446" y="3369482"/>
            <a:ext cx="1504167" cy="2844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8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transcribes and routes request to the LLM.</a:t>
            </a:r>
            <a:endParaRPr lang="en-US" sz="850" dirty="0"/>
          </a:p>
        </p:txBody>
      </p:sp>
      <p:sp>
        <p:nvSpPr>
          <p:cNvPr id="11" name="Text 7"/>
          <p:cNvSpPr/>
          <p:nvPr/>
        </p:nvSpPr>
        <p:spPr>
          <a:xfrm>
            <a:off x="5402853" y="3456385"/>
            <a:ext cx="1484219" cy="1777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Select &amp; Execute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382906" y="3684701"/>
            <a:ext cx="1504167" cy="284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8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LLM chooses and runs the required tool or action.</a:t>
            </a:r>
            <a:endParaRPr lang="en-US" sz="850" dirty="0"/>
          </a:p>
        </p:txBody>
      </p:sp>
      <p:sp>
        <p:nvSpPr>
          <p:cNvPr id="13" name="Text 9"/>
          <p:cNvSpPr/>
          <p:nvPr/>
        </p:nvSpPr>
        <p:spPr>
          <a:xfrm>
            <a:off x="9876446" y="4006241"/>
            <a:ext cx="1422006" cy="1777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Speak Result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9876446" y="4234558"/>
            <a:ext cx="1504167" cy="284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850" dirty="0" smtClean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LUMOS </a:t>
            </a:r>
            <a:r>
              <a:rPr lang="en-US" sz="8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vocalizes the outcome back to the user.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4882718" y="5099633"/>
            <a:ext cx="7048870" cy="11594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b="1" dirty="0" smtClean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LUMOS </a:t>
            </a:r>
            <a:r>
              <a:rPr lang="en-US" sz="1300" b="1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already handles: questions and conversation, web-aware information, music, reminders, persistent </a:t>
            </a:r>
            <a:r>
              <a:rPr lang="en-US" sz="1300" b="1" dirty="0" smtClean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memory</a:t>
            </a:r>
            <a:r>
              <a:rPr lang="en-US" sz="1300" b="1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image generation, AI music generation, Python execution, file management, GitHub operations, YouTube, HTML hosting, and automated multi-step </a:t>
            </a:r>
            <a:r>
              <a:rPr lang="en-US" sz="1300" b="1" dirty="0" smtClean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tasks. It uses its set of tools to achieve what is already possible, like asking for an image of a cat, LUMOS does not have access to cat images, but it can make an API request using one of the tools to get the image.</a:t>
            </a:r>
            <a:endParaRPr lang="en-US" sz="1300" b="1" dirty="0"/>
          </a:p>
        </p:txBody>
      </p:sp>
      <p:sp>
        <p:nvSpPr>
          <p:cNvPr id="16" name="5-Point Star 15"/>
          <p:cNvSpPr/>
          <p:nvPr/>
        </p:nvSpPr>
        <p:spPr>
          <a:xfrm>
            <a:off x="5788241" y="1482130"/>
            <a:ext cx="417250" cy="383777"/>
          </a:xfrm>
          <a:prstGeom prst="star5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457101"/>
            <a:ext cx="10868745" cy="492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An AI Brain Inside a Small Home Device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661475" y="1250156"/>
            <a:ext cx="11478330" cy="246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00" dirty="0" smtClean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LUMOS's </a:t>
            </a:r>
            <a:r>
              <a:rPr lang="en-US" sz="12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architecture is built in four interconnected </a:t>
            </a:r>
            <a:r>
              <a:rPr lang="en-US" sz="1200" dirty="0" smtClean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layers, </a:t>
            </a:r>
            <a:r>
              <a:rPr lang="en-US" sz="12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each supporting multiple providers, keeping the system flexible and future-proof.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61475" y="1665387"/>
            <a:ext cx="5359266" cy="1779786"/>
          </a:xfrm>
          <a:prstGeom prst="roundRect">
            <a:avLst>
              <a:gd name="adj" fmla="val 3720"/>
            </a:avLst>
          </a:prstGeom>
          <a:solidFill>
            <a:srgbClr val="D6F5EE"/>
          </a:solidFill>
          <a:ln w="6350">
            <a:solidFill>
              <a:srgbClr val="BCDB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5380" y="1829296"/>
            <a:ext cx="472865" cy="472877"/>
          </a:xfrm>
          <a:prstGeom prst="ellipse">
            <a:avLst/>
          </a:prstGeom>
          <a:solidFill>
            <a:srgbClr val="26A688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955453" y="1959273"/>
            <a:ext cx="212720" cy="2127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5380" y="2452390"/>
            <a:ext cx="5031455" cy="246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Speech Recognition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25380" y="2788741"/>
            <a:ext cx="5031455" cy="4925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00" dirty="0" smtClean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Google Speech Recognition and Whisper python library accurate voice input from any distance.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70954" y="1665387"/>
            <a:ext cx="5359266" cy="1779786"/>
          </a:xfrm>
          <a:prstGeom prst="roundRect">
            <a:avLst>
              <a:gd name="adj" fmla="val 3720"/>
            </a:avLst>
          </a:prstGeom>
          <a:solidFill>
            <a:srgbClr val="D6F5EE"/>
          </a:solidFill>
          <a:ln w="6350">
            <a:solidFill>
              <a:srgbClr val="BCDBD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334859" y="1829296"/>
            <a:ext cx="472865" cy="472877"/>
          </a:xfrm>
          <a:prstGeom prst="ellipse">
            <a:avLst/>
          </a:prstGeom>
          <a:solidFill>
            <a:srgbClr val="26A688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6464932" y="1959273"/>
            <a:ext cx="212720" cy="21272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334859" y="2452390"/>
            <a:ext cx="5031455" cy="246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LLM Layer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6334859" y="2788741"/>
            <a:ext cx="5031455" cy="4925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00" dirty="0" err="1" smtClean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OpenRouter</a:t>
            </a:r>
            <a:r>
              <a:rPr lang="en-US" sz="1200" dirty="0" smtClean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and Google Gemini for web-aware AI model-flexible </a:t>
            </a:r>
            <a:r>
              <a:rPr lang="en-US" sz="12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architecture, not locked to one provider.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61475" y="3595390"/>
            <a:ext cx="5359266" cy="1779786"/>
          </a:xfrm>
          <a:prstGeom prst="roundRect">
            <a:avLst>
              <a:gd name="adj" fmla="val 3720"/>
            </a:avLst>
          </a:prstGeom>
          <a:solidFill>
            <a:srgbClr val="D6F5EE"/>
          </a:solidFill>
          <a:ln w="6350">
            <a:solidFill>
              <a:srgbClr val="BCDBD4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5380" y="3759299"/>
            <a:ext cx="472865" cy="472877"/>
          </a:xfrm>
          <a:prstGeom prst="ellipse">
            <a:avLst/>
          </a:prstGeom>
          <a:solidFill>
            <a:srgbClr val="26A688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955453" y="3889276"/>
            <a:ext cx="212720" cy="21272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5380" y="4382393"/>
            <a:ext cx="5031455" cy="246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Text-to-Speech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825380" y="4718745"/>
            <a:ext cx="5031455" cy="4925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00" dirty="0" err="1" smtClean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Cartesia</a:t>
            </a:r>
            <a:r>
              <a:rPr lang="en-US" sz="1200" dirty="0" smtClean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natural</a:t>
            </a:r>
            <a:r>
              <a:rPr lang="en-US" sz="12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expressive voice output for every </a:t>
            </a:r>
            <a:r>
              <a:rPr lang="en-US" sz="1200" dirty="0" smtClean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response in a melodious voice.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170954" y="3595390"/>
            <a:ext cx="5359266" cy="1779786"/>
          </a:xfrm>
          <a:prstGeom prst="roundRect">
            <a:avLst>
              <a:gd name="adj" fmla="val 3720"/>
            </a:avLst>
          </a:prstGeom>
          <a:solidFill>
            <a:srgbClr val="D6F5EE"/>
          </a:solidFill>
          <a:ln w="6350">
            <a:solidFill>
              <a:srgbClr val="BCDBD4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334859" y="3759299"/>
            <a:ext cx="472865" cy="472877"/>
          </a:xfrm>
          <a:prstGeom prst="ellipse">
            <a:avLst/>
          </a:prstGeom>
          <a:solidFill>
            <a:srgbClr val="26A688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6464932" y="3889276"/>
            <a:ext cx="212720" cy="21272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334859" y="4382393"/>
            <a:ext cx="5031455" cy="246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Tool Layer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6334859" y="4693742"/>
            <a:ext cx="5031455" cy="650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Music, </a:t>
            </a:r>
            <a:r>
              <a:rPr lang="en-US" sz="1200" dirty="0" smtClean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memory</a:t>
            </a:r>
            <a:r>
              <a:rPr lang="en-US" sz="12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reminders, files, Python, GitHub, YouTube, image generation, web services, HTML </a:t>
            </a:r>
            <a:r>
              <a:rPr lang="en-US" sz="1200" dirty="0" smtClean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hosting Tools to allow LUMOS to achieve goals that aren’t possible normally.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661475" y="5544145"/>
            <a:ext cx="10868745" cy="856655"/>
          </a:xfrm>
          <a:prstGeom prst="roundRect">
            <a:avLst>
              <a:gd name="adj" fmla="val 7729"/>
            </a:avLst>
          </a:prstGeom>
          <a:solidFill>
            <a:srgbClr val="D6F5EE"/>
          </a:solidFill>
          <a:ln/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030" y="5760938"/>
            <a:ext cx="197044" cy="157559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173629" y="5733752"/>
            <a:ext cx="10199035" cy="4925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innovation isn't putting AI inside a </a:t>
            </a:r>
            <a:r>
              <a:rPr lang="en-US" sz="1200" dirty="0" smtClean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speaker, it's </a:t>
            </a:r>
            <a:r>
              <a:rPr lang="en-US" sz="12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connecting an LLM to an expandable tool ecosystem through a dedicated voice-first device.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888504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smtClean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EMO </a:t>
            </a:r>
            <a:r>
              <a:rPr lang="en-US" sz="32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Is Already More Than a Concept</a:t>
            </a:r>
            <a:endParaRPr lang="en-US" sz="3250" dirty="0"/>
          </a:p>
        </p:txBody>
      </p:sp>
      <p:sp>
        <p:nvSpPr>
          <p:cNvPr id="3" name="Text 1"/>
          <p:cNvSpPr/>
          <p:nvPr/>
        </p:nvSpPr>
        <p:spPr>
          <a:xfrm>
            <a:off x="661475" y="1818580"/>
            <a:ext cx="5796214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Current Prototype Capabilities</a:t>
            </a:r>
            <a:endParaRPr lang="en-US" sz="1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723485" y="2268141"/>
            <a:ext cx="248041" cy="24804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98830" y="2263080"/>
            <a:ext cx="5258859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Voice &amp; AI Core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198830" y="2686844"/>
            <a:ext cx="5258859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Wake-word detection, speech-to-text, AI-generated speech, multiple LLM backends, model switching, web-aware AI mode.</a:t>
            </a:r>
            <a:endParaRPr lang="en-US" sz="13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723485" y="3551833"/>
            <a:ext cx="248041" cy="24804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98830" y="3546773"/>
            <a:ext cx="5258859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Assistant Features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1198830" y="3970536"/>
            <a:ext cx="5258859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Alarms, reminders, </a:t>
            </a:r>
            <a:r>
              <a:rPr lang="en-US" sz="130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persistent </a:t>
            </a:r>
            <a:r>
              <a:rPr lang="en-US" sz="1300" smtClean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memory</a:t>
            </a:r>
            <a:r>
              <a:rPr lang="en-US" sz="13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time queries, music search, playback, playlists, volume control, AI music generation.</a:t>
            </a:r>
            <a:endParaRPr lang="en-US" sz="13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723485" y="4835525"/>
            <a:ext cx="248041" cy="248047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98830" y="4830465"/>
            <a:ext cx="5258859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Creation &amp; Dev Tools</a:t>
            </a:r>
            <a:endParaRPr lang="en-US" sz="1600" dirty="0"/>
          </a:p>
        </p:txBody>
      </p:sp>
      <p:sp>
        <p:nvSpPr>
          <p:cNvPr id="12" name="Text 7"/>
          <p:cNvSpPr/>
          <p:nvPr/>
        </p:nvSpPr>
        <p:spPr>
          <a:xfrm>
            <a:off x="1198830" y="5254228"/>
            <a:ext cx="5258859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Image generation, Python execution, file creation/editing, HTML hosting, GitHub search, repo cloning, code operations.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6748393" y="1653282"/>
            <a:ext cx="4907137" cy="4316214"/>
          </a:xfrm>
          <a:prstGeom prst="roundRect">
            <a:avLst>
              <a:gd name="adj" fmla="val 2759"/>
            </a:avLst>
          </a:prstGeom>
          <a:solidFill>
            <a:srgbClr val="192248"/>
          </a:solidFill>
          <a:ln/>
        </p:spPr>
      </p:sp>
      <p:sp>
        <p:nvSpPr>
          <p:cNvPr id="14" name="Text 9"/>
          <p:cNvSpPr/>
          <p:nvPr/>
        </p:nvSpPr>
        <p:spPr>
          <a:xfrm>
            <a:off x="6913687" y="1818580"/>
            <a:ext cx="4576549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smtClean="0">
                <a:solidFill>
                  <a:srgbClr val="FFFFFF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Demo </a:t>
            </a:r>
            <a:r>
              <a:rPr lang="en-US" sz="1600" b="1" dirty="0">
                <a:solidFill>
                  <a:srgbClr val="FFFFFF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Flow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7161728" y="2411909"/>
            <a:ext cx="4938093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smtClean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"EMO, </a:t>
            </a:r>
            <a:r>
              <a:rPr lang="en-US" sz="13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remember my project deadline."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6913687" y="2263080"/>
            <a:ext cx="19050" cy="562273"/>
          </a:xfrm>
          <a:prstGeom prst="roundRect">
            <a:avLst>
              <a:gd name="adj" fmla="val 49999"/>
            </a:avLst>
          </a:prstGeom>
          <a:solidFill>
            <a:srgbClr val="26A688"/>
          </a:solidFill>
          <a:ln/>
        </p:spPr>
      </p:sp>
      <p:sp>
        <p:nvSpPr>
          <p:cNvPr id="17" name="Text 12"/>
          <p:cNvSpPr/>
          <p:nvPr/>
        </p:nvSpPr>
        <p:spPr>
          <a:xfrm>
            <a:off x="6913687" y="3011388"/>
            <a:ext cx="4576549" cy="10584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→ Understands the request</a:t>
            </a:r>
            <a:endParaRPr lang="en-US" sz="13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→ Uses </a:t>
            </a:r>
            <a:r>
              <a:rPr lang="en-US" sz="130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</a:t>
            </a:r>
            <a:r>
              <a:rPr lang="en-US" sz="1300" smtClean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memory </a:t>
            </a:r>
            <a:r>
              <a:rPr lang="en-US" sz="13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system</a:t>
            </a:r>
            <a:endParaRPr lang="en-US" sz="13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→ Stores the information</a:t>
            </a:r>
            <a:endParaRPr lang="en-US" sz="13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→ Confirms through voice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913687" y="4297164"/>
            <a:ext cx="4576549" cy="19050"/>
          </a:xfrm>
          <a:prstGeom prst="roundRect">
            <a:avLst>
              <a:gd name="adj" fmla="val 49999"/>
            </a:avLst>
          </a:prstGeom>
          <a:solidFill>
            <a:srgbClr val="FFFFFF">
              <a:alpha val="50000"/>
            </a:srgbClr>
          </a:solidFill>
          <a:ln/>
        </p:spPr>
      </p:sp>
      <p:sp>
        <p:nvSpPr>
          <p:cNvPr id="19" name="Text 14"/>
          <p:cNvSpPr/>
          <p:nvPr/>
        </p:nvSpPr>
        <p:spPr>
          <a:xfrm>
            <a:off x="6913687" y="4543524"/>
            <a:ext cx="4576549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This single </a:t>
            </a:r>
            <a:r>
              <a:rPr lang="en-US" sz="130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interaction </a:t>
            </a:r>
            <a:r>
              <a:rPr lang="en-US" sz="1300" smtClean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demonstrates </a:t>
            </a:r>
            <a:r>
              <a:rPr lang="en-US" sz="13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core idea: </a:t>
            </a:r>
            <a:r>
              <a:rPr lang="en-US" sz="1300" b="1" dirty="0">
                <a:solidFill>
                  <a:srgbClr val="FFFFFF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natural language → AI reasoning → tool execution → response.</a:t>
            </a:r>
            <a:endParaRPr lang="en-US" sz="1300" dirty="0"/>
          </a:p>
        </p:txBody>
      </p:sp>
      <p:sp>
        <p:nvSpPr>
          <p:cNvPr id="21" name="5-Point Star 20"/>
          <p:cNvSpPr/>
          <p:nvPr/>
        </p:nvSpPr>
        <p:spPr>
          <a:xfrm>
            <a:off x="5788241" y="1482130"/>
            <a:ext cx="417250" cy="383777"/>
          </a:xfrm>
          <a:prstGeom prst="star5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355427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Who Is </a:t>
            </a:r>
            <a:r>
              <a:rPr lang="en-US" sz="3250" b="1" dirty="0" smtClean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LUMOS </a:t>
            </a:r>
            <a:r>
              <a:rPr lang="en-US" sz="32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For?</a:t>
            </a:r>
            <a:endParaRPr lang="en-US" sz="3250" dirty="0"/>
          </a:p>
        </p:txBody>
      </p:sp>
      <p:sp>
        <p:nvSpPr>
          <p:cNvPr id="3" name="Text 1"/>
          <p:cNvSpPr/>
          <p:nvPr/>
        </p:nvSpPr>
        <p:spPr>
          <a:xfrm>
            <a:off x="661475" y="2202855"/>
            <a:ext cx="10868745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00" dirty="0" smtClean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LUMOS </a:t>
            </a:r>
            <a:r>
              <a:rPr lang="en-US" sz="14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serves a wide range of </a:t>
            </a:r>
            <a:r>
              <a:rPr lang="en-US" sz="1400" dirty="0" smtClean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users, from </a:t>
            </a:r>
            <a:r>
              <a:rPr lang="en-US" sz="14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families needing everyday help to developers automating complex workflows. The common thread: natural voice interaction that actually gets things done.</a:t>
            </a:r>
            <a:endParaRPr lang="en-US" sz="1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918123"/>
            <a:ext cx="1127295" cy="69671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61475" y="3821509"/>
            <a:ext cx="2562161" cy="2648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🏠</a:t>
            </a:r>
            <a:r>
              <a:rPr lang="en-US" sz="16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 </a:t>
            </a:r>
            <a:r>
              <a:rPr lang="en-US" sz="1600" b="1" dirty="0" smtClean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Families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61475" y="4185543"/>
            <a:ext cx="2562161" cy="10584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 smtClean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“LUMOS, </a:t>
            </a:r>
            <a:r>
              <a:rPr lang="en-US" sz="13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remind me to call Dad at 8." Reminders, information, music, and everyday assistance for the whole household.</a:t>
            </a:r>
            <a:endParaRPr lang="en-US" sz="13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0303" y="2918123"/>
            <a:ext cx="1127295" cy="69671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430303" y="3821509"/>
            <a:ext cx="2562161" cy="2648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🎓</a:t>
            </a:r>
            <a:r>
              <a:rPr lang="en-US" sz="16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 Students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3430303" y="4185543"/>
            <a:ext cx="2562161" cy="10584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 smtClean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“LUMOS, </a:t>
            </a:r>
            <a:r>
              <a:rPr lang="en-US" sz="13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explain this concept." Research, questions, reminders, coding help, and productivity support.</a:t>
            </a:r>
            <a:endParaRPr lang="en-US" sz="13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9132" y="2918123"/>
            <a:ext cx="1127295" cy="69671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199132" y="3821509"/>
            <a:ext cx="2562161" cy="52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💻</a:t>
            </a:r>
            <a:r>
              <a:rPr lang="en-US" sz="16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 Developers &amp; Makers</a:t>
            </a:r>
            <a:endParaRPr lang="en-US" sz="1600" dirty="0"/>
          </a:p>
        </p:txBody>
      </p:sp>
      <p:sp>
        <p:nvSpPr>
          <p:cNvPr id="12" name="Text 7"/>
          <p:cNvSpPr/>
          <p:nvPr/>
        </p:nvSpPr>
        <p:spPr>
          <a:xfrm>
            <a:off x="6199132" y="4444008"/>
            <a:ext cx="2562161" cy="10584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 smtClean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“LUMOS </a:t>
            </a:r>
            <a:r>
              <a:rPr lang="en-US" sz="13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clone this GitHub repository." GitHub, files, Python, and development workflows — hands-free.</a:t>
            </a:r>
            <a:endParaRPr lang="en-US" sz="13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7960" y="2918123"/>
            <a:ext cx="1127394" cy="69671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967960" y="3821509"/>
            <a:ext cx="2562260" cy="2648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🎨</a:t>
            </a:r>
            <a:r>
              <a:rPr lang="en-US" sz="16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 Creators</a:t>
            </a:r>
            <a:endParaRPr lang="en-US" sz="1600" dirty="0"/>
          </a:p>
        </p:txBody>
      </p:sp>
      <p:sp>
        <p:nvSpPr>
          <p:cNvPr id="15" name="Text 9"/>
          <p:cNvSpPr/>
          <p:nvPr/>
        </p:nvSpPr>
        <p:spPr>
          <a:xfrm>
            <a:off x="8967960" y="4185543"/>
            <a:ext cx="2562260" cy="10584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 smtClean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“LUMOS, </a:t>
            </a:r>
            <a:r>
              <a:rPr lang="en-US" sz="13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generate an image for my project." Image generation, AI music, and content creation on demand.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D6F5EE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41" y="458490"/>
            <a:ext cx="4455505" cy="594092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574675"/>
            <a:ext cx="6296860" cy="7266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Turning a Smart Speaker Into a Personal AI System</a:t>
            </a:r>
            <a:endParaRPr lang="en-US" sz="2250" dirty="0"/>
          </a:p>
        </p:txBody>
      </p:sp>
      <p:sp>
        <p:nvSpPr>
          <p:cNvPr id="5" name="Text 2"/>
          <p:cNvSpPr/>
          <p:nvPr/>
        </p:nvSpPr>
        <p:spPr>
          <a:xfrm>
            <a:off x="5233360" y="1482130"/>
            <a:ext cx="6296860" cy="3837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0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233360" y="1985367"/>
            <a:ext cx="6296860" cy="1816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Device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233360" y="2216051"/>
            <a:ext cx="6296860" cy="15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4000"/>
              </a:lnSpc>
              <a:buNone/>
            </a:pPr>
            <a:r>
              <a:rPr lang="en-US" sz="9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One Raspberry Pi replaces multiple apps and screens for supported tasks.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233360" y="2596059"/>
            <a:ext cx="6296860" cy="3837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0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10+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233360" y="3099296"/>
            <a:ext cx="6296860" cy="1816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Tool Categories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233360" y="3329980"/>
            <a:ext cx="6296860" cy="15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4000"/>
              </a:lnSpc>
              <a:buNone/>
            </a:pPr>
            <a:r>
              <a:rPr lang="en-US" sz="9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Music</a:t>
            </a:r>
            <a:r>
              <a:rPr lang="en-US" sz="90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</a:t>
            </a:r>
            <a:r>
              <a:rPr lang="en-US" sz="900" smtClean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memory</a:t>
            </a:r>
            <a:r>
              <a:rPr lang="en-US" sz="9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files, GitHub, Python, web, YouTube, images, automation, and more.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233360" y="3709987"/>
            <a:ext cx="6296860" cy="3837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0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3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5233360" y="4213225"/>
            <a:ext cx="6296860" cy="1816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AI Backends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233360" y="4443909"/>
            <a:ext cx="6296860" cy="15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4000"/>
              </a:lnSpc>
              <a:buNone/>
            </a:pPr>
            <a:r>
              <a:rPr lang="en-US" sz="9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OpenRouter, Groq, and Chute — switch models without changing hardware.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233360" y="4823916"/>
            <a:ext cx="6296860" cy="3837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0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0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5233360" y="5327154"/>
            <a:ext cx="6296860" cy="1816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Ecosystem Lock-in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233360" y="5557838"/>
            <a:ext cx="6296860" cy="15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4000"/>
              </a:lnSpc>
              <a:buNone/>
            </a:pPr>
            <a:r>
              <a:rPr lang="en-US" sz="9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Built from open software components that can be changed and extended.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233360" y="5808166"/>
            <a:ext cx="6296860" cy="4750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900" smtClean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EMO </a:t>
            </a:r>
            <a:r>
              <a:rPr lang="en-US" sz="9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moves the smart-home experience from </a:t>
            </a:r>
            <a:r>
              <a:rPr lang="en-US" sz="9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Command → Response</a:t>
            </a:r>
            <a:r>
              <a:rPr lang="en-US" sz="9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toward </a:t>
            </a:r>
            <a:r>
              <a:rPr lang="en-US" sz="9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Intent → Reasoning → Action</a:t>
            </a:r>
            <a:r>
              <a:rPr lang="en-US" sz="9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 Productivity improves because users describe tasks naturally. Accessibility increases through voice-first interaction. And the platform evolves — new AI models, tools, and integrations — without redesigning the physical product.</a:t>
            </a:r>
            <a:endParaRPr lang="en-US" sz="900" dirty="0"/>
          </a:p>
        </p:txBody>
      </p:sp>
      <p:sp>
        <p:nvSpPr>
          <p:cNvPr id="19" name="5-Point Star 18"/>
          <p:cNvSpPr/>
          <p:nvPr/>
        </p:nvSpPr>
        <p:spPr>
          <a:xfrm>
            <a:off x="5788241" y="1482130"/>
            <a:ext cx="417250" cy="383777"/>
          </a:xfrm>
          <a:prstGeom prst="star5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72505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From Prototype to Personal AI Platform</a:t>
            </a:r>
            <a:endParaRPr lang="en-US" sz="3250" dirty="0"/>
          </a:p>
        </p:txBody>
      </p:sp>
      <p:sp>
        <p:nvSpPr>
          <p:cNvPr id="3" name="Text 1"/>
          <p:cNvSpPr/>
          <p:nvPr/>
        </p:nvSpPr>
        <p:spPr>
          <a:xfrm>
            <a:off x="661475" y="1519932"/>
            <a:ext cx="11478330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smtClean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EMO's </a:t>
            </a:r>
            <a:r>
              <a:rPr lang="en-US" sz="13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roadmap is structured in three clear phases, each building on the last — from a working prototype to a full personal AI platform.</a:t>
            </a:r>
            <a:endParaRPr lang="en-US" sz="13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970584"/>
            <a:ext cx="3622882" cy="66149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6769" y="2797373"/>
            <a:ext cx="3292293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Phase 1 — Prototype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26769" y="3155057"/>
            <a:ext cx="3292293" cy="8001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Raspberry Pi + microphone + Bluetooth speaker. Goal: reliable voice interaction and core AI capabilities. </a:t>
            </a:r>
            <a:r>
              <a:rPr lang="en-US" sz="1300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✅</a:t>
            </a:r>
            <a:r>
              <a:rPr lang="en-US" sz="13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 Complete</a:t>
            </a:r>
            <a:endParaRPr lang="en-US" sz="13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4357" y="1970584"/>
            <a:ext cx="3622882" cy="66149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449651" y="2797373"/>
            <a:ext cx="3292293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Phase 2 — Product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4449651" y="3155057"/>
            <a:ext cx="3292293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Custom enclosure, improved microphone, better audio, simplified setup. Goal: </a:t>
            </a:r>
            <a:r>
              <a:rPr lang="en-US" sz="130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make </a:t>
            </a:r>
            <a:r>
              <a:rPr lang="en-US" sz="1300" smtClean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EMO </a:t>
            </a:r>
            <a:r>
              <a:rPr lang="en-US" sz="13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usable as an everyday home device.</a:t>
            </a:r>
            <a:endParaRPr lang="en-US" sz="13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7239" y="1970584"/>
            <a:ext cx="3622882" cy="661491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072533" y="2797373"/>
            <a:ext cx="3292293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Phase 3 — Platform</a:t>
            </a:r>
            <a:endParaRPr lang="en-US" sz="1600" dirty="0"/>
          </a:p>
        </p:txBody>
      </p:sp>
      <p:sp>
        <p:nvSpPr>
          <p:cNvPr id="12" name="Text 7"/>
          <p:cNvSpPr/>
          <p:nvPr/>
        </p:nvSpPr>
        <p:spPr>
          <a:xfrm>
            <a:off x="8072533" y="3155057"/>
            <a:ext cx="3292293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Smart-home integrations, sensors, local AI, user profiles, custom automations, and a developer tool ecosystem.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661475" y="4471888"/>
            <a:ext cx="5232666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Possible Business Model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661475" y="4895652"/>
            <a:ext cx="5232666" cy="12319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r>
              <a:rPr lang="en-US" sz="13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Hardware:</a:t>
            </a:r>
            <a:r>
              <a:rPr lang="en-US" sz="13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Sell an </a:t>
            </a:r>
            <a:r>
              <a:rPr lang="en-US" sz="130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affordable </a:t>
            </a:r>
            <a:r>
              <a:rPr lang="en-US" sz="1300" smtClean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EMO </a:t>
            </a:r>
            <a:r>
              <a:rPr lang="en-US" sz="13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device</a:t>
            </a:r>
            <a:endParaRPr lang="en-US" sz="1300" dirty="0"/>
          </a:p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r>
              <a:rPr lang="en-US" sz="13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Software:</a:t>
            </a:r>
            <a:r>
              <a:rPr lang="en-US" sz="13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Optional premium AI/model features</a:t>
            </a:r>
            <a:endParaRPr lang="en-US" sz="1300" dirty="0"/>
          </a:p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r>
              <a:rPr lang="en-US" sz="13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Integrations:</a:t>
            </a:r>
            <a:r>
              <a:rPr lang="en-US" sz="13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Home automation and specialized deployments</a:t>
            </a:r>
            <a:endParaRPr lang="en-US" sz="1300" dirty="0"/>
          </a:p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r>
              <a:rPr lang="en-US" sz="13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Developer Platform:</a:t>
            </a:r>
            <a:r>
              <a:rPr lang="en-US" sz="13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Users create and add their </a:t>
            </a:r>
            <a:r>
              <a:rPr lang="en-US" sz="130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own </a:t>
            </a:r>
            <a:r>
              <a:rPr lang="en-US" sz="1300" smtClean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EMO </a:t>
            </a:r>
            <a:r>
              <a:rPr lang="en-US" sz="13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tools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6184844" y="4306590"/>
            <a:ext cx="5470785" cy="1878905"/>
          </a:xfrm>
          <a:prstGeom prst="roundRect">
            <a:avLst>
              <a:gd name="adj" fmla="val 6338"/>
            </a:avLst>
          </a:prstGeom>
          <a:solidFill>
            <a:srgbClr val="26A688"/>
          </a:solidFill>
          <a:ln/>
        </p:spPr>
      </p:sp>
      <p:sp>
        <p:nvSpPr>
          <p:cNvPr id="16" name="Text 11"/>
          <p:cNvSpPr/>
          <p:nvPr/>
        </p:nvSpPr>
        <p:spPr>
          <a:xfrm>
            <a:off x="6350139" y="4471888"/>
            <a:ext cx="5140196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Scalability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6350139" y="4895652"/>
            <a:ext cx="5140196" cy="10584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smtClean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EMO's </a:t>
            </a: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architecture scales through software — more models, more tools, more APIs, more devices, and eventually full smart-home automation. The same software concept can move to more powerful Raspberry Pi hardware or custom hardware over time.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479524"/>
            <a:ext cx="10868745" cy="9689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0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The Future of Home Assistants Isn't More Commands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661475" y="1739205"/>
            <a:ext cx="10868745" cy="480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2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Alexa helped introduce millions of people to talking to computers. The next step is different. An assistant shouldn't just recognize what you said — it should understand what you mean, know which tools it needs, and actually do the work.</a:t>
            </a:r>
            <a:endParaRPr lang="en-US" sz="1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661475" y="2383334"/>
            <a:ext cx="5361647" cy="115808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1698" y="2557363"/>
            <a:ext cx="4937398" cy="2421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AI-First Design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911698" y="2886770"/>
            <a:ext cx="4937398" cy="480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200" smtClean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EMO </a:t>
            </a:r>
            <a:r>
              <a:rPr lang="en-US" sz="12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is designed around an LLM — AI isn't an add-on, it's the foundation.</a:t>
            </a:r>
            <a:endParaRPr lang="en-US" sz="12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6168474" y="2383334"/>
            <a:ext cx="5361746" cy="115808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18697" y="2557363"/>
            <a:ext cx="4937498" cy="2421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Model Flexible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6418697" y="2886770"/>
            <a:ext cx="4937498" cy="480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2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Supports multiple AI backends. The assistant isn't permanently tied to one model.</a:t>
            </a:r>
            <a:endParaRPr lang="en-US" sz="12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661475" y="3686770"/>
            <a:ext cx="5361647" cy="1158081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11698" y="3860800"/>
            <a:ext cx="4937398" cy="2421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Tool-Driven &amp; Expandable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911698" y="4190206"/>
            <a:ext cx="4937398" cy="480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2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New capabilities added as tools — files, Python, GitHub, music, web, YouTube</a:t>
            </a:r>
            <a:r>
              <a:rPr lang="en-US" sz="120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</a:t>
            </a:r>
            <a:r>
              <a:rPr lang="en-US" sz="1200" smtClean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memory</a:t>
            </a:r>
            <a:r>
              <a:rPr lang="en-US" sz="12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images, automation.</a:t>
            </a:r>
            <a:endParaRPr lang="en-US" sz="12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6168474" y="3686770"/>
            <a:ext cx="5361746" cy="1158081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418697" y="3860800"/>
            <a:ext cx="4937498" cy="2421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Voice-First, User-Controlled</a:t>
            </a:r>
            <a:endParaRPr lang="en-US" sz="1500" dirty="0"/>
          </a:p>
        </p:txBody>
      </p:sp>
      <p:sp>
        <p:nvSpPr>
          <p:cNvPr id="15" name="Text 9"/>
          <p:cNvSpPr/>
          <p:nvPr/>
        </p:nvSpPr>
        <p:spPr>
          <a:xfrm>
            <a:off x="6418697" y="4190206"/>
            <a:ext cx="4937498" cy="480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2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Speak → AI → Action → Voice. No ecosystem lock-in. Built from components you can change.</a:t>
            </a:r>
            <a:endParaRPr lang="en-US" sz="1200" dirty="0"/>
          </a:p>
        </p:txBody>
      </p:sp>
      <p:sp>
        <p:nvSpPr>
          <p:cNvPr id="16" name="Text 10"/>
          <p:cNvSpPr/>
          <p:nvPr/>
        </p:nvSpPr>
        <p:spPr>
          <a:xfrm>
            <a:off x="894038" y="5171877"/>
            <a:ext cx="11245767" cy="240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2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Smart speaker:</a:t>
            </a:r>
            <a:r>
              <a:rPr lang="en-US" sz="12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"Here are the things I was designed to do</a:t>
            </a:r>
            <a:r>
              <a:rPr lang="en-US" sz="120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." </a:t>
            </a:r>
            <a:r>
              <a:rPr lang="en-US" sz="1200" b="1" smtClean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EMO:</a:t>
            </a:r>
            <a:r>
              <a:rPr lang="en-US" sz="1200" smtClean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</a:t>
            </a:r>
            <a:r>
              <a:rPr lang="en-US" sz="12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"Tell me what you're trying to accomplish."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661475" y="5008364"/>
            <a:ext cx="19050" cy="567333"/>
          </a:xfrm>
          <a:prstGeom prst="roundRect">
            <a:avLst>
              <a:gd name="adj" fmla="val 49999"/>
            </a:avLst>
          </a:prstGeom>
          <a:solidFill>
            <a:srgbClr val="26A688"/>
          </a:solidFill>
          <a:ln/>
        </p:spPr>
      </p:sp>
      <p:sp>
        <p:nvSpPr>
          <p:cNvPr id="18" name="Text 12"/>
          <p:cNvSpPr/>
          <p:nvPr/>
        </p:nvSpPr>
        <p:spPr>
          <a:xfrm>
            <a:off x="661475" y="5739209"/>
            <a:ext cx="11478330" cy="240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2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Team:</a:t>
            </a:r>
            <a:r>
              <a:rPr lang="en-US" sz="12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[TEAM NAME] · </a:t>
            </a:r>
            <a:r>
              <a:rPr lang="en-US" sz="12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Members:</a:t>
            </a:r>
            <a:r>
              <a:rPr lang="en-US" sz="12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[MEMBERS] · </a:t>
            </a:r>
            <a:r>
              <a:rPr lang="en-US" sz="12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Mentor:</a:t>
            </a:r>
            <a:r>
              <a:rPr lang="en-US" sz="12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[MENTOR] · </a:t>
            </a:r>
            <a:r>
              <a:rPr lang="en-US" sz="12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Contact:</a:t>
            </a:r>
            <a:r>
              <a:rPr lang="en-US" sz="12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[CONTACT]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661475" y="6143030"/>
            <a:ext cx="3093960" cy="235446"/>
          </a:xfrm>
          <a:prstGeom prst="roundRect">
            <a:avLst>
              <a:gd name="adj" fmla="val 22127"/>
            </a:avLst>
          </a:prstGeom>
          <a:solidFill>
            <a:srgbClr val="D6F5EE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441" y="6198691"/>
            <a:ext cx="124020" cy="124023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40471" y="6189464"/>
            <a:ext cx="3331583" cy="1425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50" smtClean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EMO </a:t>
            </a:r>
            <a:r>
              <a:rPr lang="en-US" sz="9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— ASK NATURALLY. LET AI DO THE WORK.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1339</Words>
  <Application>Microsoft Office PowerPoint</Application>
  <PresentationFormat>Widescreen</PresentationFormat>
  <Paragraphs>132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Open Sans Bold</vt:lpstr>
      <vt:lpstr>Unbounded Bold</vt:lpstr>
      <vt:lpstr>Arial</vt:lpstr>
      <vt:lpstr>Noto Color Emoji</vt:lpstr>
      <vt:lpstr>Calibri</vt:lpstr>
      <vt:lpstr>Open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0025au</dc:creator>
  <cp:lastModifiedBy>DELL</cp:lastModifiedBy>
  <cp:revision>12</cp:revision>
  <dcterms:created xsi:type="dcterms:W3CDTF">2026-09-27T12:28:26Z</dcterms:created>
  <dcterms:modified xsi:type="dcterms:W3CDTF">2026-09-28T07:44:03Z</dcterms:modified>
</cp:coreProperties>
</file>